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3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214" y="11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D0856-6424-4B7D-A136-7F4DC3CEC865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4B53E-FA55-492A-BCBE-7B6C7C2DF97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630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55.png"/><Relationship Id="rId3" Type="http://schemas.openxmlformats.org/officeDocument/2006/relationships/image" Target="../media/image2.png"/><Relationship Id="rId21" Type="http://schemas.openxmlformats.org/officeDocument/2006/relationships/image" Target="../media/image17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54.png"/><Relationship Id="rId25" Type="http://schemas.openxmlformats.org/officeDocument/2006/relationships/image" Target="../media/image21.png"/><Relationship Id="rId2" Type="http://schemas.openxmlformats.org/officeDocument/2006/relationships/image" Target="../media/image1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0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image" Target="../media/image15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1F1F"/>
                </a:solidFill>
                <a:latin typeface="Times New Roman"/>
              </a:rPr>
              <a:t>事件驅動的 Persona 條件式影片評論生成系統 — 基於稀疏時序預測</a:t>
            </a:r>
            <a:br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85146" y="4206240"/>
            <a:ext cx="379123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 err="1">
                <a:solidFill>
                  <a:srgbClr val="1F1F1F"/>
                </a:solidFill>
                <a:latin typeface="Times New Roman"/>
              </a:rPr>
              <a:t>傅聖祐</a:t>
            </a:r>
            <a:r>
              <a:rPr sz="2400" dirty="0">
                <a:solidFill>
                  <a:srgbClr val="1F1F1F"/>
                </a:solidFill>
                <a:latin typeface="Times New Roman"/>
              </a:rPr>
              <a:t> (Sheng-You Fu)</a:t>
            </a:r>
          </a:p>
          <a:p>
            <a:pPr algn="ctr"/>
            <a:r>
              <a:rPr sz="2200" dirty="0">
                <a:solidFill>
                  <a:srgbClr val="1F1F1F"/>
                </a:solidFill>
                <a:latin typeface="Times New Roman"/>
              </a:rPr>
              <a:t>指導教授：陳彥良 教授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大綱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緒論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   – 研究動機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   – 問題描述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   – 研究目標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相關研究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提出之方法架構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實驗設計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研究動機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短影音創作者高度依賴觀眾回饋以優化內容。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   – 傳統使用者研究成本高、速度慢。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   – 平台分析工具（如 YouTube Analytics）僅提供發布後資料，延遲達數天至數週。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現有 AI 驅動工具每部影片僅生成一條整體評論。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   – 無法揭露「哪一段內容吸引哪一類觀眾」。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   – 創作者需要可操作、具時間定位的洞察，而非彙總情感。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目標：將觀眾研究從「事後整片回饋」轉向「事前段落級預測」。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問題描述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Times New Roman"/>
              </a:rPr>
              <a:t>一個 3B 小模型，在沒有真實 persona 級觀看資料的條件下，</a:t>
            </a:r>
          </a:p>
          <a:p>
            <a:pPr lvl="1"/>
            <a:r>
              <a:rPr sz="1800">
                <a:latin typeface="Times New Roman"/>
              </a:rPr>
              <a:t>能否為 1–3 分鐘的 YouTube 影片生成 persona 條件式的稀疏評論？</a:t>
            </a:r>
          </a:p>
          <a:p>
            <a:r>
              <a:rPr sz="1800">
                <a:latin typeface="Times New Roman"/>
              </a:rPr>
              <a:t>三大核心挑戰：</a:t>
            </a:r>
          </a:p>
          <a:p>
            <a:pPr lvl="1"/>
            <a:r>
              <a:rPr sz="1800">
                <a:latin typeface="Times New Roman"/>
              </a:rPr>
              <a:t>C1. 資料稀缺：不存在 (影片, persona, 稀疏評論列表) 的標註資料集。</a:t>
            </a:r>
          </a:p>
          <a:p>
            <a:pPr lvl="1"/>
            <a:r>
              <a:rPr sz="1800">
                <a:latin typeface="Times New Roman"/>
              </a:rPr>
              <a:t>C2. 稀疏時序預測：模型必須決定「在哪些時間點」留言，而非僅生成內容。</a:t>
            </a:r>
          </a:p>
          <a:p>
            <a:pPr lvl="1"/>
            <a:r>
              <a:rPr sz="1800">
                <a:latin typeface="Times New Roman"/>
              </a:rPr>
              <a:t>C3. 端側部署限制：部署目標為單張 24GB 消費級 GPU（訓練使用 RTX 5090 32GB；部署於 24GB 驗證可行）。</a:t>
            </a:r>
          </a:p>
          <a:p>
            <a:r>
              <a:rPr sz="1800">
                <a:latin typeface="Times New Roman"/>
              </a:rPr>
              <a:t>現有解決方案（SimTube、Claude zero-shot、GPT-4o）無法同時滿足三項條件。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研究目標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Times New Roman"/>
              </a:rPr>
              <a:t>建構 SimLens — persona 條件式稀疏影片評論生成系統。</a:t>
            </a:r>
          </a:p>
          <a:p>
            <a:r>
              <a:rPr sz="1600">
                <a:latin typeface="Times New Roman"/>
              </a:rPr>
              <a:t>量化指標 (KPIs)：</a:t>
            </a:r>
          </a:p>
          <a:p>
            <a:pPr lvl="1"/>
            <a:r>
              <a:rPr sz="1600">
                <a:latin typeface="Times New Roman"/>
              </a:rPr>
              <a:t>每組 (影片, persona)：產生 1 個稀疏 JSON 列表 [{timestamp, comment}, …]（變動長度，每 persona 0–7 條評論）。</a:t>
            </a:r>
          </a:p>
          <a:p>
            <a:pPr lvl="1"/>
            <a:r>
              <a:rPr sz="1600">
                <a:latin typeface="Times New Roman"/>
              </a:rPr>
              <a:t>透過 8 個 per-persona LoRA adapter 實現，共享同一 Llama-3B base，推理時動態切換。</a:t>
            </a:r>
          </a:p>
          <a:p>
            <a:pPr lvl="1"/>
            <a:r>
              <a:rPr sz="1600">
                <a:latin typeface="Times New Roman"/>
              </a:rPr>
              <a:t>推理延遲 ≤ 24 秒/影片（RTX 3090，本研究訓練使用 RTX 5090 32GB），8 個 persona 全本地執行。</a:t>
            </a:r>
          </a:p>
          <a:p>
            <a:pPr lvl="1"/>
            <a:r>
              <a:rPr sz="1600">
                <a:latin typeface="Times New Roman"/>
              </a:rPr>
              <a:t>Persona Consistency ≥ 0.83（目標：超越 Claude 教師模型 0.74）。</a:t>
            </a:r>
          </a:p>
          <a:p>
            <a:pPr lvl="1"/>
            <a:r>
              <a:rPr sz="1600">
                <a:latin typeface="Times New Roman"/>
              </a:rPr>
              <a:t>格式合規率 (SCR + TVR) ≥ 95% — 確保結構化輸出可用。</a:t>
            </a:r>
          </a:p>
          <a:p>
            <a:pPr lvl="1"/>
            <a:r>
              <a:rPr sz="1600">
                <a:latin typeface="Times New Roman"/>
              </a:rPr>
              <a:t>Persona 來源：從 PersonaChat 8K 透過 cosine similarity + MMR 取樣 8 個（沿用 SimTube IUI 2025 範式）。</a:t>
            </a:r>
          </a:p>
          <a:p>
            <a:pPr lvl="1"/>
            <a:r>
              <a:rPr sz="1600">
                <a:latin typeface="Times New Roman"/>
              </a:rPr>
              <a:t>API 成本：推理階段 $0（vs. SimTube 每部影片約 $0.225）。</a:t>
            </a:r>
          </a:p>
          <a:p>
            <a:r>
              <a:rPr sz="1600">
                <a:latin typeface="Times New Roman"/>
              </a:rPr>
              <a:t>三大貢獻：</a:t>
            </a:r>
          </a:p>
          <a:p>
            <a:pPr lvl="1"/>
            <a:r>
              <a:rPr sz="1600">
                <a:latin typeface="Times New Roman"/>
              </a:rPr>
              <a:t>C1 (系統)：首個可在消費級 GPU 上運行的 persona 條件式稀疏時序評論生成器。</a:t>
            </a:r>
          </a:p>
          <a:p>
            <a:pPr lvl="1"/>
            <a:r>
              <a:rPr sz="1600">
                <a:latin typeface="Times New Roman"/>
              </a:rPr>
              <a:t>C2 (方法)：one-shot 時間軸到稀疏 JSON 蒸餾 + 4 面向 list-level reward 的 RLAIF 對齊。</a:t>
            </a:r>
          </a:p>
          <a:p>
            <a:pPr lvl="1"/>
            <a:r>
              <a:rPr sz="1600">
                <a:latin typeface="Times New Roman"/>
              </a:rPr>
              <a:t>C3 (實證)：3B 學生模型在 persona 特化維度上達到 / 超越 600B 級教師模型。</a:t>
            </a:r>
          </a:p>
          <a:p>
            <a:pPr lvl="1"/>
            <a:r>
              <a:rPr sz="1600">
                <a:latin typeface="Times New Roman"/>
              </a:rPr>
              <a:t>C4 (可重現性)：Persona 來源為 PersonaChat 8K + MMR — 給定 random seed 完全可重現。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相關研究 — SimTube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2542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latin typeface="Times New Roman"/>
              </a:rPr>
              <a:t>論文：SimTube — 透過多模態 AI 生成模擬影片評論</a:t>
            </a:r>
          </a:p>
          <a:p>
            <a:r>
              <a:rPr sz="1700">
                <a:latin typeface="Times New Roman"/>
              </a:rPr>
              <a:t>問題：在發布前預測 YouTube 觀眾留言。</a:t>
            </a:r>
          </a:p>
          <a:p>
            <a:r>
              <a:rPr sz="1700">
                <a:latin typeface="Times New Roman"/>
              </a:rPr>
              <a:t>方法：Whisper + LLaVA（視覺敘述）→ Claude 為每個 persona 生成一條整體評論。</a:t>
            </a:r>
          </a:p>
          <a:p>
            <a:r>
              <a:rPr sz="1700">
                <a:latin typeface="Times New Roman"/>
              </a:rPr>
              <a:t>限制：僅輸出整片評論 — 無時序粒度、無段落級分析。</a:t>
            </a:r>
          </a:p>
          <a:p>
            <a:pPr lvl="1"/>
            <a:r>
              <a:rPr sz="1700">
                <a:latin typeface="Times New Roman"/>
              </a:rPr>
              <a:t>無法告知創作者「哪一段影片」吸引「哪一類觀眾」。</a:t>
            </a:r>
          </a:p>
          <a:p>
            <a:pPr lvl="1"/>
            <a:r>
              <a:rPr sz="1700">
                <a:latin typeface="Times New Roman"/>
              </a:rPr>
              <a:t>推理階段需付費呼叫 Claude API（每部影片約 $0.225）→ 無端側部署方案。</a:t>
            </a:r>
          </a:p>
          <a:p>
            <a:r>
              <a:rPr sz="1700">
                <a:latin typeface="Times New Roman"/>
              </a:rPr>
              <a:t>[1] Hung et al. SimTube. arXiv:2411.09577, IUI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相關研究 — UMaT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論文：Everything Can Be Described in Words — 具語意與時序對齊的統一多模態框架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問題：多模態異質性與 LLM context 限制下的長影片理解。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方法：將視覺 + 音訊轉換為帶時間戳的結構化文字段落 → LLM 可處理的統一文字表示。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C00000"/>
                </a:solidFill>
                <a:latin typeface="Times New Roman"/>
              </a:rPr>
              <a:t>• 限制：聚焦於檢索 / QA，不生成 persona 條件式反應。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C00000"/>
                </a:solidFill>
                <a:latin typeface="Times New Roman"/>
              </a:rPr>
              <a:t>   – 提供時序對齊方法，但無觀眾建模。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SimLens 借鏡 UMaT 的結構化文字對齊，延伸至生成 + persona 條件化。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[2] Bi &amp; Xu. UMaT: Unified Multi-Modal Framework with Semantic and Temporal Alignment. arXiv:2503.09081,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相關研究 — RLAIF + DPO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論文：RLAIF (Lee et al., 2023) + Direct Preference Optimization (Rafailov et al., NeurIPS 2023)</a:t>
            </a:r>
          </a:p>
          <a:p>
            <a:r>
              <a:rPr sz="1500">
                <a:latin typeface="Times New Roman"/>
              </a:rPr>
              <a:t>問題：RLHF 受限於昂貴的人類偏好資料瓶頸。</a:t>
            </a:r>
          </a:p>
          <a:p>
            <a:r>
              <a:rPr sz="1500">
                <a:latin typeface="Times New Roman"/>
              </a:rPr>
              <a:t>RLAIF 方法 (Lee et al., d-RLAIF 變體)：使用 frozen 現成 LLM 作為 judge 評分輸出；</a:t>
            </a:r>
          </a:p>
          <a:p>
            <a:pPr lvl="1"/>
            <a:r>
              <a:rPr sz="1500">
                <a:latin typeface="Times New Roman"/>
              </a:rPr>
              <a:t>免去訓練 reward model；AI feedback 在部分任務上達到甚至超越人類 RLHF。</a:t>
            </a:r>
          </a:p>
          <a:p>
            <a:r>
              <a:rPr sz="1500">
                <a:latin typeface="Times New Roman"/>
              </a:rPr>
              <a:t>DPO 方法：直接從 preference pair 最佳化 policy，不需顯式 reward model；</a:t>
            </a:r>
          </a:p>
          <a:p>
            <a:pPr lvl="1"/>
            <a:r>
              <a:rPr sz="1500">
                <a:latin typeface="Times New Roman"/>
              </a:rPr>
              <a:t>對 LoRA 友善、單卡可訓 — Thakkar (ACL 2024) 系統性驗證 LoRA-SFT → LoRA-DPO 流程。</a:t>
            </a:r>
          </a:p>
          <a:p>
            <a:r>
              <a:rPr sz="1500">
                <a:latin typeface="Times New Roman"/>
              </a:rPr>
              <a:t>SimLens 組合：RLAIF (Qwen3-32B 為 frozen judge) + DPO (8 個 LoRA adapter)；</a:t>
            </a:r>
          </a:p>
          <a:p>
            <a:pPr lvl="1"/>
            <a:r>
              <a:rPr sz="1500">
                <a:latin typeface="Times New Roman"/>
              </a:rPr>
              <a:t>4 面向 reward (R_timing, R_frequency_match, R_content_quality, R_coverage_diversity) — list-level 評分。</a:t>
            </a:r>
          </a:p>
          <a:p>
            <a:r>
              <a:rPr sz="1500">
                <a:latin typeface="Times New Roman"/>
              </a:rPr>
              <a:t>[5] Lee et al. RLAIF. arXiv:2309.00267 (Google DeepMind, 2023).    [7] Rafailov et al. DPO. NeurIPS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[6] Yuan et al. Self-Rewarding Language Models. arXiv:2401.10020 (Meta + NYU, 2024)  [Iterative DPO concept only]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方法比較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註：影片評論生成領域尚無公認 SOTA；Claude / GPT-4o 為通用 LLM baseline，非影片評論專用模型。SimTube 為本領域唯一直接前身工作。</a:t>
            </a:r>
          </a:p>
          <a:p>
            <a:r>
              <a:rPr sz="1400">
                <a:latin typeface="Times New Roman"/>
              </a:rPr>
              <a:t>額外維度（未列入表格）：SimLens 重現 SimTube 的 PersonaChat 取樣範式 — persona 非手寫，確保論文可重現。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方法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稀疏時序預測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Persona 條件化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端側部署 (≤ 24GB)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空列表棄答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SimTube [1]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Claude zero-shot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GPT-4o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Llama-3.2-3B zero-shot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Times New Roman"/>
                        </a:rPr>
                        <a:t>SimLens (本研究)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[1] Hung et al. SimTube. arXiv:2411.09577,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1F1F"/>
                </a:solidFill>
                <a:latin typeface="Times New Roman"/>
              </a:rPr>
              <a:t>SimLens：基於蒸餾 + RLAIF DPO 的稀疏 Persona 條件式影片評論生成</a:t>
            </a:r>
            <a:br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SimLens 系統架構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33272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i="1">
                <a:solidFill>
                  <a:srgbClr val="808080"/>
                </a:solidFill>
              </a:rPr>
              <a:t>【請於此處插入系統架構圖】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r>
              <a:rPr sz="1100">
                <a:latin typeface="Times New Roman"/>
              </a:rPr>
              <a:t>Stage A：Whisper + LLaVA-NeXT（UMaT 風格時序對齊）→ 全局 Timeline Script</a:t>
            </a:r>
          </a:p>
          <a:p>
            <a:r>
              <a:rPr sz="1100">
                <a:latin typeface="Times New Roman"/>
              </a:rPr>
              <a:t>Stage B：Llama-3B + 8 個 persona-LoRA — one-shot 輸入 → 稀疏 JSON [{ts, comment}, …]；透過蒸餾 (Claude 教師) + RLAIF (Qwen judge, DPO) 訓練</a:t>
            </a:r>
          </a:p>
          <a:p>
            <a:r>
              <a:rPr sz="1100">
                <a:latin typeface="Times New Roman"/>
              </a:rPr>
              <a:t>Stage C：相同 Llama-3B base → 情感分析 + 報告生成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 dirty="0" err="1">
                <a:solidFill>
                  <a:srgbClr val="212121"/>
                </a:solidFill>
                <a:latin typeface="Arial"/>
              </a:rPr>
              <a:t>SimLens</a:t>
            </a:r>
            <a:r>
              <a:rPr sz="2200" b="1" i="0" dirty="0">
                <a:solidFill>
                  <a:srgbClr val="212121"/>
                </a:solidFill>
                <a:latin typeface="Arial"/>
              </a:rPr>
              <a:t> </a:t>
            </a:r>
            <a:r>
              <a:rPr sz="2200" b="1" i="0" dirty="0" err="1">
                <a:solidFill>
                  <a:srgbClr val="212121"/>
                </a:solidFill>
                <a:latin typeface="Arial"/>
              </a:rPr>
              <a:t>微調架構</a:t>
            </a:r>
            <a:endParaRPr sz="2200" b="1" i="0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Arial"/>
              </a:rPr>
              <a:t>相同的 8 個 per-persona LoRA adapter（8 個 persona 自 PersonaChat 8K 透過 cosine + MMR 自動取樣，詳見 §2.3）— Phase 1 SFT 後接 Phase 2 DPO</a:t>
            </a:r>
          </a:p>
        </p:txBody>
      </p:sp>
      <p:pic>
        <p:nvPicPr>
          <p:cNvPr id="41" name="圖片 40" descr="The image displays a series of five rectangles, each containing a pair of terms, starting with 'data' followed by 'label' for the first, second, and fourth rectangles, and 'data' followed by 'label' for the third and fifth rectangles.&#10;&#10;AI 產生的內容可能不正確。">
            <a:extLst>
              <a:ext uri="{FF2B5EF4-FFF2-40B4-BE49-F238E27FC236}">
                <a16:creationId xmlns:a16="http://schemas.microsoft.com/office/drawing/2014/main" id="{92C55D0D-D70D-4610-B0CD-BD9F40261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999" y="1351320"/>
            <a:ext cx="735145" cy="1024339"/>
          </a:xfrm>
          <a:prstGeom prst="rect">
            <a:avLst/>
          </a:prstGeom>
        </p:spPr>
      </p:pic>
      <p:cxnSp>
        <p:nvCxnSpPr>
          <p:cNvPr id="42" name="直線單箭頭接點 41">
            <a:extLst>
              <a:ext uri="{FF2B5EF4-FFF2-40B4-BE49-F238E27FC236}">
                <a16:creationId xmlns:a16="http://schemas.microsoft.com/office/drawing/2014/main" id="{9280FFBA-E351-C92F-70E8-510C9FDFB8B0}"/>
              </a:ext>
            </a:extLst>
          </p:cNvPr>
          <p:cNvCxnSpPr>
            <a:cxnSpLocks/>
          </p:cNvCxnSpPr>
          <p:nvPr/>
        </p:nvCxnSpPr>
        <p:spPr>
          <a:xfrm flipH="1" flipV="1">
            <a:off x="3150175" y="3050585"/>
            <a:ext cx="6125" cy="121466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線單箭頭接點 42">
            <a:extLst>
              <a:ext uri="{FF2B5EF4-FFF2-40B4-BE49-F238E27FC236}">
                <a16:creationId xmlns:a16="http://schemas.microsoft.com/office/drawing/2014/main" id="{A2AD5F80-DFB5-E369-7C50-F3870E00CF14}"/>
              </a:ext>
            </a:extLst>
          </p:cNvPr>
          <p:cNvCxnSpPr>
            <a:cxnSpLocks/>
          </p:cNvCxnSpPr>
          <p:nvPr/>
        </p:nvCxnSpPr>
        <p:spPr>
          <a:xfrm flipH="1" flipV="1">
            <a:off x="2049047" y="3050585"/>
            <a:ext cx="18211" cy="1020211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0FCBC263-48F1-5BDE-1758-F3DCBC6BCCB6}"/>
              </a:ext>
            </a:extLst>
          </p:cNvPr>
          <p:cNvCxnSpPr>
            <a:cxnSpLocks/>
            <a:stCxn id="93" idx="0"/>
          </p:cNvCxnSpPr>
          <p:nvPr/>
        </p:nvCxnSpPr>
        <p:spPr>
          <a:xfrm flipH="1" flipV="1">
            <a:off x="966606" y="3013470"/>
            <a:ext cx="6225" cy="1256927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63993C33-64C1-556E-3B0D-FE2F5A78E17A}"/>
              </a:ext>
            </a:extLst>
          </p:cNvPr>
          <p:cNvSpPr/>
          <p:nvPr/>
        </p:nvSpPr>
        <p:spPr>
          <a:xfrm>
            <a:off x="407733" y="4157569"/>
            <a:ext cx="3114318" cy="710282"/>
          </a:xfrm>
          <a:prstGeom prst="roundRect">
            <a:avLst>
              <a:gd name="adj" fmla="val 5428"/>
            </a:avLst>
          </a:prstGeom>
          <a:noFill/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 b="1" dirty="0">
              <a:latin typeface="Cambria Math" panose="02040503050406030204" pitchFamily="18" charset="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6759CE0-B50C-1F9F-C3CB-91BE7E2B805C}"/>
              </a:ext>
            </a:extLst>
          </p:cNvPr>
          <p:cNvSpPr/>
          <p:nvPr/>
        </p:nvSpPr>
        <p:spPr>
          <a:xfrm>
            <a:off x="239148" y="1205675"/>
            <a:ext cx="6388723" cy="3813310"/>
          </a:xfrm>
          <a:prstGeom prst="roundRect">
            <a:avLst>
              <a:gd name="adj" fmla="val 5428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 b="1" dirty="0">
              <a:latin typeface="Cambria Math" panose="02040503050406030204" pitchFamily="18" charset="0"/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816E74CD-7887-F990-873A-2A50D9DAD12E}"/>
              </a:ext>
            </a:extLst>
          </p:cNvPr>
          <p:cNvSpPr/>
          <p:nvPr/>
        </p:nvSpPr>
        <p:spPr>
          <a:xfrm>
            <a:off x="723220" y="1462914"/>
            <a:ext cx="2599898" cy="1587671"/>
          </a:xfrm>
          <a:prstGeom prst="roundRect">
            <a:avLst>
              <a:gd name="adj" fmla="val 5428"/>
            </a:avLst>
          </a:prstGeom>
          <a:noFill/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 b="1" dirty="0">
              <a:latin typeface="Cambria Math" panose="02040503050406030204" pitchFamily="18" charset="0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CF36B181-B2F0-B57F-E5AA-E5FE4ADB8852}"/>
              </a:ext>
            </a:extLst>
          </p:cNvPr>
          <p:cNvSpPr/>
          <p:nvPr/>
        </p:nvSpPr>
        <p:spPr>
          <a:xfrm>
            <a:off x="1956034" y="877282"/>
            <a:ext cx="2852137" cy="398390"/>
          </a:xfrm>
          <a:prstGeom prst="roundRect">
            <a:avLst>
              <a:gd name="adj" fmla="val 18548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Phase 1: SFT Distillation</a:t>
            </a:r>
            <a:endParaRPr lang="zh-TW" altLang="en-US" sz="1400" b="1" dirty="0">
              <a:solidFill>
                <a:schemeClr val="tx1"/>
              </a:solidFill>
              <a:latin typeface="Cambria Math" panose="02040503050406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E9CDEFAA-5EED-B86E-DC14-1F842D9CCF90}"/>
              </a:ext>
            </a:extLst>
          </p:cNvPr>
          <p:cNvSpPr/>
          <p:nvPr/>
        </p:nvSpPr>
        <p:spPr>
          <a:xfrm>
            <a:off x="607196" y="3265565"/>
            <a:ext cx="765984" cy="582486"/>
          </a:xfrm>
          <a:prstGeom prst="roundRect">
            <a:avLst>
              <a:gd name="adj" fmla="val 5428"/>
            </a:avLst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Persona</a:t>
            </a:r>
          </a:p>
          <a:p>
            <a:pPr algn="ctr"/>
            <a:r>
              <a:rPr lang="en-US" altLang="zh-TW" sz="11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LoRA</a:t>
            </a:r>
            <a:endParaRPr lang="zh-TW" altLang="en-US" sz="1100" b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89141236-7039-F2DA-6B6E-28EC3689F57D}"/>
              </a:ext>
            </a:extLst>
          </p:cNvPr>
          <p:cNvSpPr/>
          <p:nvPr/>
        </p:nvSpPr>
        <p:spPr>
          <a:xfrm>
            <a:off x="1690113" y="3280321"/>
            <a:ext cx="765984" cy="582486"/>
          </a:xfrm>
          <a:prstGeom prst="roundRect">
            <a:avLst>
              <a:gd name="adj" fmla="val 5428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Persona</a:t>
            </a:r>
          </a:p>
          <a:p>
            <a:pPr algn="ctr"/>
            <a:r>
              <a:rPr lang="en-US" altLang="zh-TW" sz="11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LoRA</a:t>
            </a:r>
            <a:endParaRPr lang="zh-TW" altLang="en-US" sz="1100" b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A35E0C3F-DD5F-7EB2-F0CA-7CF2C82164C6}"/>
              </a:ext>
            </a:extLst>
          </p:cNvPr>
          <p:cNvSpPr/>
          <p:nvPr/>
        </p:nvSpPr>
        <p:spPr>
          <a:xfrm>
            <a:off x="2773030" y="3290558"/>
            <a:ext cx="765984" cy="582486"/>
          </a:xfrm>
          <a:prstGeom prst="roundRect">
            <a:avLst>
              <a:gd name="adj" fmla="val 5428"/>
            </a:avLst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1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Persona</a:t>
            </a:r>
          </a:p>
          <a:p>
            <a:pPr algn="ctr"/>
            <a:r>
              <a:rPr lang="en-US" altLang="zh-TW" sz="1100" b="1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LoRA</a:t>
            </a:r>
            <a:endParaRPr lang="zh-TW" altLang="en-US" sz="1100" b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pic>
        <p:nvPicPr>
          <p:cNvPr id="54" name="Picture 2" descr="An Overview of the LoRA Family | Towards Data Science">
            <a:extLst>
              <a:ext uri="{FF2B5EF4-FFF2-40B4-BE49-F238E27FC236}">
                <a16:creationId xmlns:a16="http://schemas.microsoft.com/office/drawing/2014/main" id="{76E48F6A-FB32-9BDE-2589-0112E922F4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0" t="6502" r="9970" b="5407"/>
          <a:stretch>
            <a:fillRect/>
          </a:stretch>
        </p:blipFill>
        <p:spPr bwMode="auto">
          <a:xfrm>
            <a:off x="1048138" y="1567230"/>
            <a:ext cx="1987550" cy="140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TextBox 2">
            <a:extLst>
              <a:ext uri="{FF2B5EF4-FFF2-40B4-BE49-F238E27FC236}">
                <a16:creationId xmlns:a16="http://schemas.microsoft.com/office/drawing/2014/main" id="{84FFDFFF-2BD9-2E1A-CE44-6E54007ECE0C}"/>
              </a:ext>
            </a:extLst>
          </p:cNvPr>
          <p:cNvSpPr txBox="1"/>
          <p:nvPr/>
        </p:nvSpPr>
        <p:spPr>
          <a:xfrm>
            <a:off x="-3111476" y="6209832"/>
            <a:ext cx="728678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TW" sz="1200" b="0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</a:t>
            </a:r>
          </a:p>
          <a:p>
            <a:pPr algn="ctr"/>
            <a:r>
              <a:rPr lang="en-US" altLang="zh-TW" sz="1200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[]</a:t>
            </a:r>
            <a:endParaRPr sz="1200" b="0" i="1" dirty="0">
              <a:solidFill>
                <a:srgbClr val="555555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4C3A207A-EE78-7AA6-79E2-165B9C38227A}"/>
              </a:ext>
            </a:extLst>
          </p:cNvPr>
          <p:cNvGrpSpPr/>
          <p:nvPr/>
        </p:nvGrpSpPr>
        <p:grpSpPr>
          <a:xfrm>
            <a:off x="7213021" y="5708186"/>
            <a:ext cx="1722254" cy="900814"/>
            <a:chOff x="542262" y="5658451"/>
            <a:chExt cx="1915062" cy="922482"/>
          </a:xfrm>
        </p:grpSpPr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86204D01-CF95-60F0-F236-678E1009B0E9}"/>
                </a:ext>
              </a:extLst>
            </p:cNvPr>
            <p:cNvSpPr txBox="1"/>
            <p:nvPr/>
          </p:nvSpPr>
          <p:spPr>
            <a:xfrm>
              <a:off x="773133" y="5658451"/>
              <a:ext cx="14496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100</a:t>
              </a:r>
              <a:r>
                <a:rPr lang="zh-TW" altLang="en-US" sz="1200" b="1" dirty="0">
                  <a:latin typeface="Cambria Math" panose="02040503050406030204" pitchFamily="18" charset="0"/>
                </a:rPr>
                <a:t> </a:t>
              </a:r>
              <a:r>
                <a:rPr lang="en-US" altLang="zh-TW" sz="1200" b="1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youtube</a:t>
              </a:r>
              <a:r>
                <a:rPr lang="en-US" altLang="zh-TW" sz="12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videos</a:t>
              </a:r>
              <a:endParaRPr lang="zh-TW" altLang="en-US" sz="1200" b="1" dirty="0">
                <a:latin typeface="Cambria Math" panose="02040503050406030204" pitchFamily="18" charset="0"/>
              </a:endParaRPr>
            </a:p>
          </p:txBody>
        </p: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79FDDF7C-27C9-C2DD-A9D7-8C9C5528959E}"/>
                </a:ext>
              </a:extLst>
            </p:cNvPr>
            <p:cNvGrpSpPr/>
            <p:nvPr/>
          </p:nvGrpSpPr>
          <p:grpSpPr>
            <a:xfrm>
              <a:off x="542262" y="5986573"/>
              <a:ext cx="1915062" cy="594360"/>
              <a:chOff x="6124649" y="2469323"/>
              <a:chExt cx="1991696" cy="962352"/>
            </a:xfrm>
          </p:grpSpPr>
          <p:grpSp>
            <p:nvGrpSpPr>
              <p:cNvPr id="59" name="群組 58">
                <a:extLst>
                  <a:ext uri="{FF2B5EF4-FFF2-40B4-BE49-F238E27FC236}">
                    <a16:creationId xmlns:a16="http://schemas.microsoft.com/office/drawing/2014/main" id="{60B83D45-40B0-955E-4E31-E88BFE279775}"/>
                  </a:ext>
                </a:extLst>
              </p:cNvPr>
              <p:cNvGrpSpPr/>
              <p:nvPr/>
            </p:nvGrpSpPr>
            <p:grpSpPr>
              <a:xfrm>
                <a:off x="6124649" y="2469323"/>
                <a:ext cx="1456313" cy="695037"/>
                <a:chOff x="8760305" y="3069306"/>
                <a:chExt cx="1456313" cy="695037"/>
              </a:xfrm>
            </p:grpSpPr>
            <p:grpSp>
              <p:nvGrpSpPr>
                <p:cNvPr id="78" name="群組 77">
                  <a:extLst>
                    <a:ext uri="{FF2B5EF4-FFF2-40B4-BE49-F238E27FC236}">
                      <a16:creationId xmlns:a16="http://schemas.microsoft.com/office/drawing/2014/main" id="{F391B819-000F-595E-C6F1-BF4FE9C6A8C6}"/>
                    </a:ext>
                  </a:extLst>
                </p:cNvPr>
                <p:cNvGrpSpPr/>
                <p:nvPr/>
              </p:nvGrpSpPr>
              <p:grpSpPr>
                <a:xfrm>
                  <a:off x="8760305" y="3069306"/>
                  <a:ext cx="1456313" cy="695037"/>
                  <a:chOff x="8439635" y="4146550"/>
                  <a:chExt cx="2421610" cy="762000"/>
                </a:xfrm>
                <a:scene3d>
                  <a:camera prst="isometricOffAxis1Right">
                    <a:rot lat="1080000" lon="19800000" rev="0"/>
                  </a:camera>
                  <a:lightRig rig="threePt" dir="t"/>
                </a:scene3d>
              </p:grpSpPr>
              <p:pic>
                <p:nvPicPr>
                  <p:cNvPr id="80" name="圖形 79" descr="影片膠片 外框">
                    <a:extLst>
                      <a:ext uri="{FF2B5EF4-FFF2-40B4-BE49-F238E27FC236}">
                        <a16:creationId xmlns:a16="http://schemas.microsoft.com/office/drawing/2014/main" id="{0F582A6D-5CDD-DAC2-66C2-EF146DDD1D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1049" t="33813" r="-1049" b="34720"/>
                  <a:stretch>
                    <a:fillRect/>
                  </a:stretch>
                </p:blipFill>
                <p:spPr>
                  <a:xfrm>
                    <a:off x="8439635" y="4146550"/>
                    <a:ext cx="2421610" cy="762000"/>
                  </a:xfrm>
                  <a:prstGeom prst="rect">
                    <a:avLst/>
                  </a:prstGeom>
                </p:spPr>
              </p:pic>
              <p:cxnSp>
                <p:nvCxnSpPr>
                  <p:cNvPr id="81" name="直線接點 80">
                    <a:extLst>
                      <a:ext uri="{FF2B5EF4-FFF2-40B4-BE49-F238E27FC236}">
                        <a16:creationId xmlns:a16="http://schemas.microsoft.com/office/drawing/2014/main" id="{50DE4BD2-469B-790E-C45E-3611960DE4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21460" y="4164806"/>
                    <a:ext cx="1413642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線接點 81">
                    <a:extLst>
                      <a:ext uri="{FF2B5EF4-FFF2-40B4-BE49-F238E27FC236}">
                        <a16:creationId xmlns:a16="http://schemas.microsoft.com/office/drawing/2014/main" id="{13D64385-E1F1-FD5B-873A-C0E0055402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18602" y="4891087"/>
                    <a:ext cx="1413642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79" name="圖片 78">
                  <a:extLst>
                    <a:ext uri="{FF2B5EF4-FFF2-40B4-BE49-F238E27FC236}">
                      <a16:creationId xmlns:a16="http://schemas.microsoft.com/office/drawing/2014/main" id="{9399E4E4-8974-E660-24FA-2EA544337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9206278" y="3102007"/>
                  <a:ext cx="557019" cy="632898"/>
                </a:xfrm>
                <a:prstGeom prst="rect">
                  <a:avLst/>
                </a:prstGeom>
                <a:scene3d>
                  <a:camera prst="isometricOffAxis1Right">
                    <a:rot lat="1080000" lon="19800000" rev="0"/>
                  </a:camera>
                  <a:lightRig rig="threePt" dir="t"/>
                </a:scene3d>
              </p:spPr>
            </p:pic>
          </p:grpSp>
          <p:grpSp>
            <p:nvGrpSpPr>
              <p:cNvPr id="60" name="群組 59">
                <a:extLst>
                  <a:ext uri="{FF2B5EF4-FFF2-40B4-BE49-F238E27FC236}">
                    <a16:creationId xmlns:a16="http://schemas.microsoft.com/office/drawing/2014/main" id="{48D4D68E-C6FB-1462-56C3-58567827B8C6}"/>
                  </a:ext>
                </a:extLst>
              </p:cNvPr>
              <p:cNvGrpSpPr/>
              <p:nvPr/>
            </p:nvGrpSpPr>
            <p:grpSpPr>
              <a:xfrm>
                <a:off x="6307414" y="2556029"/>
                <a:ext cx="1456313" cy="695037"/>
                <a:chOff x="6971364" y="4531895"/>
                <a:chExt cx="2421610" cy="762000"/>
              </a:xfrm>
              <a:scene3d>
                <a:camera prst="isometricOffAxis1Right">
                  <a:rot lat="1080000" lon="19800000" rev="0"/>
                </a:camera>
                <a:lightRig rig="threePt" dir="t"/>
              </a:scene3d>
            </p:grpSpPr>
            <p:grpSp>
              <p:nvGrpSpPr>
                <p:cNvPr id="73" name="群組 72">
                  <a:extLst>
                    <a:ext uri="{FF2B5EF4-FFF2-40B4-BE49-F238E27FC236}">
                      <a16:creationId xmlns:a16="http://schemas.microsoft.com/office/drawing/2014/main" id="{5886DEB3-82B6-7575-B474-FEB7653D758B}"/>
                    </a:ext>
                  </a:extLst>
                </p:cNvPr>
                <p:cNvGrpSpPr/>
                <p:nvPr/>
              </p:nvGrpSpPr>
              <p:grpSpPr>
                <a:xfrm>
                  <a:off x="6971364" y="4531895"/>
                  <a:ext cx="2421610" cy="762000"/>
                  <a:chOff x="8439635" y="4146550"/>
                  <a:chExt cx="2421610" cy="762000"/>
                </a:xfrm>
              </p:grpSpPr>
              <p:pic>
                <p:nvPicPr>
                  <p:cNvPr id="75" name="圖形 74" descr="影片膠片 外框">
                    <a:extLst>
                      <a:ext uri="{FF2B5EF4-FFF2-40B4-BE49-F238E27FC236}">
                        <a16:creationId xmlns:a16="http://schemas.microsoft.com/office/drawing/2014/main" id="{A19CA54F-3623-A1FB-C4F1-26E9345836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1049" t="33813" r="-1049" b="34720"/>
                  <a:stretch>
                    <a:fillRect/>
                  </a:stretch>
                </p:blipFill>
                <p:spPr>
                  <a:xfrm>
                    <a:off x="8439635" y="4146550"/>
                    <a:ext cx="2421610" cy="762000"/>
                  </a:xfrm>
                  <a:prstGeom prst="rect">
                    <a:avLst/>
                  </a:prstGeom>
                </p:spPr>
              </p:pic>
              <p:cxnSp>
                <p:nvCxnSpPr>
                  <p:cNvPr id="76" name="直線接點 75">
                    <a:extLst>
                      <a:ext uri="{FF2B5EF4-FFF2-40B4-BE49-F238E27FC236}">
                        <a16:creationId xmlns:a16="http://schemas.microsoft.com/office/drawing/2014/main" id="{D25C8981-0C4E-6724-B067-F17E3B6BA6A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21460" y="4164806"/>
                    <a:ext cx="1413642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直線接點 76">
                    <a:extLst>
                      <a:ext uri="{FF2B5EF4-FFF2-40B4-BE49-F238E27FC236}">
                        <a16:creationId xmlns:a16="http://schemas.microsoft.com/office/drawing/2014/main" id="{BBD14F30-D00B-6002-2FC4-0D90F1FBC7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18602" y="4891087"/>
                    <a:ext cx="1413642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74" name="圖片 73" descr="A person is using a hose to wash a car on a dirt road.&#10;&#10;AI 產生的內容可能不正確。">
                  <a:extLst>
                    <a:ext uri="{FF2B5EF4-FFF2-40B4-BE49-F238E27FC236}">
                      <a16:creationId xmlns:a16="http://schemas.microsoft.com/office/drawing/2014/main" id="{12E17382-13D4-D678-8DEA-1DC741BA72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12944" y="4577967"/>
                  <a:ext cx="926232" cy="681764"/>
                </a:xfrm>
                <a:prstGeom prst="rect">
                  <a:avLst/>
                </a:prstGeom>
              </p:spPr>
            </p:pic>
          </p:grpSp>
          <p:grpSp>
            <p:nvGrpSpPr>
              <p:cNvPr id="61" name="群組 60">
                <a:extLst>
                  <a:ext uri="{FF2B5EF4-FFF2-40B4-BE49-F238E27FC236}">
                    <a16:creationId xmlns:a16="http://schemas.microsoft.com/office/drawing/2014/main" id="{EE95A60B-2AC8-D702-EC6A-D40A1DE01F75}"/>
                  </a:ext>
                </a:extLst>
              </p:cNvPr>
              <p:cNvGrpSpPr/>
              <p:nvPr/>
            </p:nvGrpSpPr>
            <p:grpSpPr>
              <a:xfrm>
                <a:off x="6470097" y="2646772"/>
                <a:ext cx="1506847" cy="649528"/>
                <a:chOff x="8489378" y="5092561"/>
                <a:chExt cx="2421610" cy="762000"/>
              </a:xfrm>
            </p:grpSpPr>
            <p:pic>
              <p:nvPicPr>
                <p:cNvPr id="68" name="圖片 67">
                  <a:extLst>
                    <a:ext uri="{FF2B5EF4-FFF2-40B4-BE49-F238E27FC236}">
                      <a16:creationId xmlns:a16="http://schemas.microsoft.com/office/drawing/2014/main" id="{237A5944-39DF-9F17-68BB-654074EEBF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9231420" y="5110242"/>
                  <a:ext cx="887490" cy="730847"/>
                </a:xfrm>
                <a:prstGeom prst="rect">
                  <a:avLst/>
                </a:prstGeom>
                <a:scene3d>
                  <a:camera prst="isometricRightUp">
                    <a:rot lat="2100000" lon="20400000" rev="0"/>
                  </a:camera>
                  <a:lightRig rig="threePt" dir="t"/>
                </a:scene3d>
              </p:spPr>
            </p:pic>
            <p:grpSp>
              <p:nvGrpSpPr>
                <p:cNvPr id="69" name="群組 68">
                  <a:extLst>
                    <a:ext uri="{FF2B5EF4-FFF2-40B4-BE49-F238E27FC236}">
                      <a16:creationId xmlns:a16="http://schemas.microsoft.com/office/drawing/2014/main" id="{C86DE751-20F9-F4BF-DDB4-549AFD4F7473}"/>
                    </a:ext>
                  </a:extLst>
                </p:cNvPr>
                <p:cNvGrpSpPr/>
                <p:nvPr/>
              </p:nvGrpSpPr>
              <p:grpSpPr>
                <a:xfrm>
                  <a:off x="8489378" y="5092561"/>
                  <a:ext cx="2421610" cy="762000"/>
                  <a:chOff x="8439635" y="4146550"/>
                  <a:chExt cx="2421610" cy="762000"/>
                </a:xfrm>
                <a:scene3d>
                  <a:camera prst="isometricOffAxis1Right">
                    <a:rot lat="1080000" lon="19800000" rev="0"/>
                  </a:camera>
                  <a:lightRig rig="threePt" dir="t"/>
                </a:scene3d>
              </p:grpSpPr>
              <p:pic>
                <p:nvPicPr>
                  <p:cNvPr id="70" name="圖形 69" descr="影片膠片 外框">
                    <a:extLst>
                      <a:ext uri="{FF2B5EF4-FFF2-40B4-BE49-F238E27FC236}">
                        <a16:creationId xmlns:a16="http://schemas.microsoft.com/office/drawing/2014/main" id="{A293E6C7-D74A-B540-38ED-F792DB93D8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1049" t="33813" r="-1049" b="34720"/>
                  <a:stretch>
                    <a:fillRect/>
                  </a:stretch>
                </p:blipFill>
                <p:spPr>
                  <a:xfrm>
                    <a:off x="8439635" y="4146550"/>
                    <a:ext cx="2421610" cy="762000"/>
                  </a:xfrm>
                  <a:prstGeom prst="rect">
                    <a:avLst/>
                  </a:prstGeom>
                </p:spPr>
              </p:pic>
              <p:cxnSp>
                <p:nvCxnSpPr>
                  <p:cNvPr id="71" name="直線接點 70">
                    <a:extLst>
                      <a:ext uri="{FF2B5EF4-FFF2-40B4-BE49-F238E27FC236}">
                        <a16:creationId xmlns:a16="http://schemas.microsoft.com/office/drawing/2014/main" id="{FE7E347B-EEEA-F1D5-4F6B-1860A89ECD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21460" y="4164806"/>
                    <a:ext cx="1413642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直線接點 71">
                    <a:extLst>
                      <a:ext uri="{FF2B5EF4-FFF2-40B4-BE49-F238E27FC236}">
                        <a16:creationId xmlns:a16="http://schemas.microsoft.com/office/drawing/2014/main" id="{82B33731-6EB0-9631-5424-9B35D8E4AC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18602" y="4891087"/>
                    <a:ext cx="1413642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2" name="群組 61">
                <a:extLst>
                  <a:ext uri="{FF2B5EF4-FFF2-40B4-BE49-F238E27FC236}">
                    <a16:creationId xmlns:a16="http://schemas.microsoft.com/office/drawing/2014/main" id="{B52EF55C-2D66-08AA-1015-3F48CB426548}"/>
                  </a:ext>
                </a:extLst>
              </p:cNvPr>
              <p:cNvGrpSpPr/>
              <p:nvPr/>
            </p:nvGrpSpPr>
            <p:grpSpPr>
              <a:xfrm>
                <a:off x="6660032" y="2736638"/>
                <a:ext cx="1456313" cy="695037"/>
                <a:chOff x="2978237" y="5117536"/>
                <a:chExt cx="1456313" cy="695037"/>
              </a:xfrm>
            </p:grpSpPr>
            <p:grpSp>
              <p:nvGrpSpPr>
                <p:cNvPr id="63" name="群組 62">
                  <a:extLst>
                    <a:ext uri="{FF2B5EF4-FFF2-40B4-BE49-F238E27FC236}">
                      <a16:creationId xmlns:a16="http://schemas.microsoft.com/office/drawing/2014/main" id="{246DFECF-AB50-5DC7-4173-F94C4589099D}"/>
                    </a:ext>
                  </a:extLst>
                </p:cNvPr>
                <p:cNvGrpSpPr/>
                <p:nvPr/>
              </p:nvGrpSpPr>
              <p:grpSpPr>
                <a:xfrm>
                  <a:off x="2978237" y="5117536"/>
                  <a:ext cx="1456313" cy="695037"/>
                  <a:chOff x="8439635" y="4146550"/>
                  <a:chExt cx="2421610" cy="762000"/>
                </a:xfrm>
                <a:scene3d>
                  <a:camera prst="isometricOffAxis1Right">
                    <a:rot lat="1080000" lon="19800000" rev="0"/>
                  </a:camera>
                  <a:lightRig rig="threePt" dir="t"/>
                </a:scene3d>
              </p:grpSpPr>
              <p:pic>
                <p:nvPicPr>
                  <p:cNvPr id="65" name="圖形 64" descr="影片膠片 外框">
                    <a:extLst>
                      <a:ext uri="{FF2B5EF4-FFF2-40B4-BE49-F238E27FC236}">
                        <a16:creationId xmlns:a16="http://schemas.microsoft.com/office/drawing/2014/main" id="{7F7CA928-8A3A-90E7-7E20-469211ABDD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1049" t="33813" r="-1049" b="34720"/>
                  <a:stretch>
                    <a:fillRect/>
                  </a:stretch>
                </p:blipFill>
                <p:spPr>
                  <a:xfrm>
                    <a:off x="8439635" y="4146550"/>
                    <a:ext cx="2421610" cy="762000"/>
                  </a:xfrm>
                  <a:prstGeom prst="rect">
                    <a:avLst/>
                  </a:prstGeom>
                </p:spPr>
              </p:pic>
              <p:cxnSp>
                <p:nvCxnSpPr>
                  <p:cNvPr id="66" name="直線接點 65">
                    <a:extLst>
                      <a:ext uri="{FF2B5EF4-FFF2-40B4-BE49-F238E27FC236}">
                        <a16:creationId xmlns:a16="http://schemas.microsoft.com/office/drawing/2014/main" id="{B58A172A-CEF6-D166-7540-ED15AC4EA7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21460" y="4164806"/>
                    <a:ext cx="1413642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線接點 66">
                    <a:extLst>
                      <a:ext uri="{FF2B5EF4-FFF2-40B4-BE49-F238E27FC236}">
                        <a16:creationId xmlns:a16="http://schemas.microsoft.com/office/drawing/2014/main" id="{B2FBDBDD-C2E2-322E-9FCF-1654E6E148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918602" y="4891087"/>
                    <a:ext cx="1413642" cy="0"/>
                  </a:xfrm>
                  <a:prstGeom prst="line">
                    <a:avLst/>
                  </a:prstGeom>
                  <a:ln w="38100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pic>
              <p:nvPicPr>
                <p:cNvPr id="64" name="圖片 63">
                  <a:extLst>
                    <a:ext uri="{FF2B5EF4-FFF2-40B4-BE49-F238E27FC236}">
                      <a16:creationId xmlns:a16="http://schemas.microsoft.com/office/drawing/2014/main" id="{4AA3DE40-2758-FEB0-0E9D-026BF05271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3424210" y="5154553"/>
                  <a:ext cx="557019" cy="630134"/>
                </a:xfrm>
                <a:prstGeom prst="rect">
                  <a:avLst/>
                </a:prstGeom>
                <a:scene3d>
                  <a:camera prst="isometricOffAxis1Right">
                    <a:rot lat="1080000" lon="19800000" rev="0"/>
                  </a:camera>
                  <a:lightRig rig="threePt" dir="t"/>
                </a:scene3d>
              </p:spPr>
            </p:pic>
          </p:grpSp>
        </p:grpSp>
      </p:grp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A4F215B1-E976-7836-9F10-F03203A5AB60}"/>
              </a:ext>
            </a:extLst>
          </p:cNvPr>
          <p:cNvSpPr txBox="1"/>
          <p:nvPr/>
        </p:nvSpPr>
        <p:spPr>
          <a:xfrm>
            <a:off x="6273071" y="5910684"/>
            <a:ext cx="14191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Cos similarity</a:t>
            </a:r>
          </a:p>
        </p:txBody>
      </p:sp>
      <p:grpSp>
        <p:nvGrpSpPr>
          <p:cNvPr id="84" name="群組 83">
            <a:extLst>
              <a:ext uri="{FF2B5EF4-FFF2-40B4-BE49-F238E27FC236}">
                <a16:creationId xmlns:a16="http://schemas.microsoft.com/office/drawing/2014/main" id="{7A188E51-A5EF-8B8D-8E32-43B1842F0439}"/>
              </a:ext>
            </a:extLst>
          </p:cNvPr>
          <p:cNvGrpSpPr/>
          <p:nvPr/>
        </p:nvGrpSpPr>
        <p:grpSpPr>
          <a:xfrm>
            <a:off x="4421935" y="5742564"/>
            <a:ext cx="1693734" cy="900814"/>
            <a:chOff x="707367" y="5082938"/>
            <a:chExt cx="2071778" cy="851189"/>
          </a:xfr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</p:grpSpPr>
        <p:sp>
          <p:nvSpPr>
            <p:cNvPr id="85" name="矩形: 圓角 84">
              <a:extLst>
                <a:ext uri="{FF2B5EF4-FFF2-40B4-BE49-F238E27FC236}">
                  <a16:creationId xmlns:a16="http://schemas.microsoft.com/office/drawing/2014/main" id="{E2EFD879-12BA-5888-7940-F6E1AFD3CA84}"/>
                </a:ext>
              </a:extLst>
            </p:cNvPr>
            <p:cNvSpPr/>
            <p:nvPr/>
          </p:nvSpPr>
          <p:spPr>
            <a:xfrm>
              <a:off x="707367" y="5082938"/>
              <a:ext cx="2040791" cy="851189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 b="1" dirty="0">
                <a:latin typeface="Cambria Math" panose="02040503050406030204" pitchFamily="18" charset="0"/>
              </a:endParaRPr>
            </a:p>
          </p:txBody>
        </p:sp>
        <p:pic>
          <p:nvPicPr>
            <p:cNvPr id="86" name="圖片 85">
              <a:extLst>
                <a:ext uri="{FF2B5EF4-FFF2-40B4-BE49-F238E27FC236}">
                  <a16:creationId xmlns:a16="http://schemas.microsoft.com/office/drawing/2014/main" id="{B8CF98A5-6A89-B9F0-321E-11323CA83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45324" y="5185965"/>
              <a:ext cx="571470" cy="637967"/>
            </a:xfrm>
            <a:prstGeom prst="rect">
              <a:avLst/>
            </a:prstGeom>
            <a:grpFill/>
          </p:spPr>
        </p:pic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49A3F335-85D5-56EE-4A0D-B9CE7746AD27}"/>
                </a:ext>
              </a:extLst>
            </p:cNvPr>
            <p:cNvSpPr txBox="1"/>
            <p:nvPr/>
          </p:nvSpPr>
          <p:spPr>
            <a:xfrm>
              <a:off x="1371468" y="5293633"/>
              <a:ext cx="1407677" cy="4700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100" b="1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PersonaChat</a:t>
              </a:r>
              <a:r>
                <a:rPr lang="en-US" altLang="zh-TW" sz="11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 Dataset</a:t>
              </a:r>
              <a:endParaRPr lang="zh-TW" altLang="en-US" sz="1100" b="1" dirty="0">
                <a:latin typeface="Cambria Math" panose="02040503050406030204" pitchFamily="18" charset="0"/>
                <a:ea typeface="微軟正黑體" panose="020B0604030504040204" pitchFamily="34" charset="-120"/>
              </a:endParaRPr>
            </a:p>
          </p:txBody>
        </p:sp>
        <p:cxnSp>
          <p:nvCxnSpPr>
            <p:cNvPr id="88" name="直線接點 87">
              <a:extLst>
                <a:ext uri="{FF2B5EF4-FFF2-40B4-BE49-F238E27FC236}">
                  <a16:creationId xmlns:a16="http://schemas.microsoft.com/office/drawing/2014/main" id="{A495F17C-6F17-C241-65E3-DE8ABC787315}"/>
                </a:ext>
              </a:extLst>
            </p:cNvPr>
            <p:cNvCxnSpPr>
              <a:cxnSpLocks/>
            </p:cNvCxnSpPr>
            <p:nvPr/>
          </p:nvCxnSpPr>
          <p:spPr>
            <a:xfrm>
              <a:off x="1500997" y="5093880"/>
              <a:ext cx="0" cy="840245"/>
            </a:xfrm>
            <a:prstGeom prst="lin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矩形: 圓角 88">
            <a:extLst>
              <a:ext uri="{FF2B5EF4-FFF2-40B4-BE49-F238E27FC236}">
                <a16:creationId xmlns:a16="http://schemas.microsoft.com/office/drawing/2014/main" id="{2500B029-45C3-CA50-4431-CEF8B2A76343}"/>
              </a:ext>
            </a:extLst>
          </p:cNvPr>
          <p:cNvSpPr/>
          <p:nvPr/>
        </p:nvSpPr>
        <p:spPr>
          <a:xfrm>
            <a:off x="7346471" y="5743447"/>
            <a:ext cx="1523711" cy="941385"/>
          </a:xfrm>
          <a:prstGeom prst="roundRect">
            <a:avLst>
              <a:gd name="adj" fmla="val 5428"/>
            </a:avLst>
          </a:prstGeom>
          <a:noFill/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 b="1" dirty="0">
              <a:latin typeface="Cambria Math" panose="02040503050406030204" pitchFamily="18" charset="0"/>
            </a:endParaRPr>
          </a:p>
        </p:txBody>
      </p:sp>
      <p:cxnSp>
        <p:nvCxnSpPr>
          <p:cNvPr id="90" name="直線單箭頭接點 89">
            <a:extLst>
              <a:ext uri="{FF2B5EF4-FFF2-40B4-BE49-F238E27FC236}">
                <a16:creationId xmlns:a16="http://schemas.microsoft.com/office/drawing/2014/main" id="{62303815-7F57-B94D-7E50-2DD98566E544}"/>
              </a:ext>
            </a:extLst>
          </p:cNvPr>
          <p:cNvCxnSpPr>
            <a:cxnSpLocks/>
            <a:stCxn id="89" idx="1"/>
            <a:endCxn id="87" idx="3"/>
          </p:cNvCxnSpPr>
          <p:nvPr/>
        </p:nvCxnSpPr>
        <p:spPr>
          <a:xfrm flipH="1">
            <a:off x="6115669" y="6214140"/>
            <a:ext cx="1230802" cy="108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1" name="圖片 90" descr="The image depicts a cartoon character wearing a suit and tie, with a distinctive yellow lightning bolt on its forehead.&#10;&#10;AI 產生的內容可能不正確。">
            <a:extLst>
              <a:ext uri="{FF2B5EF4-FFF2-40B4-BE49-F238E27FC236}">
                <a16:creationId xmlns:a16="http://schemas.microsoft.com/office/drawing/2014/main" id="{44481BA3-7E1A-1B91-477B-C3C3AB0B85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3062" y="4265248"/>
            <a:ext cx="491971" cy="536697"/>
          </a:xfrm>
          <a:prstGeom prst="rect">
            <a:avLst/>
          </a:prstGeom>
        </p:spPr>
      </p:pic>
      <p:pic>
        <p:nvPicPr>
          <p:cNvPr id="92" name="Picture 4" descr="Office worker - Free people icons">
            <a:extLst>
              <a:ext uri="{FF2B5EF4-FFF2-40B4-BE49-F238E27FC236}">
                <a16:creationId xmlns:a16="http://schemas.microsoft.com/office/drawing/2014/main" id="{D8337325-1A73-04FD-8059-3538DE16E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300" y="4258410"/>
            <a:ext cx="527337" cy="52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Student - Free education icons">
            <a:extLst>
              <a:ext uri="{FF2B5EF4-FFF2-40B4-BE49-F238E27FC236}">
                <a16:creationId xmlns:a16="http://schemas.microsoft.com/office/drawing/2014/main" id="{F1CA6AEE-DB2B-EA0D-8FF3-03F18627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97377" y="4270397"/>
            <a:ext cx="550909" cy="55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4" name="接點: 肘形 93">
            <a:extLst>
              <a:ext uri="{FF2B5EF4-FFF2-40B4-BE49-F238E27FC236}">
                <a16:creationId xmlns:a16="http://schemas.microsoft.com/office/drawing/2014/main" id="{68E1CFC1-1CAD-2BA7-0E4A-7ED5DF09FD17}"/>
              </a:ext>
            </a:extLst>
          </p:cNvPr>
          <p:cNvCxnSpPr>
            <a:cxnSpLocks/>
            <a:stCxn id="85" idx="0"/>
            <a:endCxn id="91" idx="2"/>
          </p:cNvCxnSpPr>
          <p:nvPr/>
        </p:nvCxnSpPr>
        <p:spPr>
          <a:xfrm rot="16200000" flipV="1">
            <a:off x="3727283" y="4213711"/>
            <a:ext cx="940619" cy="211708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接點: 肘形 94">
            <a:extLst>
              <a:ext uri="{FF2B5EF4-FFF2-40B4-BE49-F238E27FC236}">
                <a16:creationId xmlns:a16="http://schemas.microsoft.com/office/drawing/2014/main" id="{CBD5981F-0CAD-AD0C-9AE6-B76CDC1976E9}"/>
              </a:ext>
            </a:extLst>
          </p:cNvPr>
          <p:cNvCxnSpPr>
            <a:cxnSpLocks/>
            <a:stCxn id="85" idx="0"/>
            <a:endCxn id="92" idx="2"/>
          </p:cNvCxnSpPr>
          <p:nvPr/>
        </p:nvCxnSpPr>
        <p:spPr>
          <a:xfrm rot="16200000" flipV="1">
            <a:off x="3169145" y="3655572"/>
            <a:ext cx="956817" cy="321716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接點: 肘形 95">
            <a:extLst>
              <a:ext uri="{FF2B5EF4-FFF2-40B4-BE49-F238E27FC236}">
                <a16:creationId xmlns:a16="http://schemas.microsoft.com/office/drawing/2014/main" id="{2349909B-64D3-0D1A-3D81-263DC59CDFD1}"/>
              </a:ext>
            </a:extLst>
          </p:cNvPr>
          <p:cNvCxnSpPr>
            <a:cxnSpLocks/>
            <a:stCxn id="85" idx="0"/>
            <a:endCxn id="93" idx="2"/>
          </p:cNvCxnSpPr>
          <p:nvPr/>
        </p:nvCxnSpPr>
        <p:spPr>
          <a:xfrm rot="16200000" flipV="1">
            <a:off x="2653855" y="3140282"/>
            <a:ext cx="921258" cy="4283305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矩形: 圓角 96">
            <a:extLst>
              <a:ext uri="{FF2B5EF4-FFF2-40B4-BE49-F238E27FC236}">
                <a16:creationId xmlns:a16="http://schemas.microsoft.com/office/drawing/2014/main" id="{4868203C-A864-57F3-9B5C-D5B991F41D79}"/>
              </a:ext>
            </a:extLst>
          </p:cNvPr>
          <p:cNvSpPr/>
          <p:nvPr/>
        </p:nvSpPr>
        <p:spPr>
          <a:xfrm>
            <a:off x="4310614" y="5613326"/>
            <a:ext cx="4633453" cy="1152775"/>
          </a:xfrm>
          <a:prstGeom prst="roundRect">
            <a:avLst>
              <a:gd name="adj" fmla="val 5428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 b="1" dirty="0">
              <a:latin typeface="Cambria Math" panose="02040503050406030204" pitchFamily="18" charset="0"/>
            </a:endParaRPr>
          </a:p>
        </p:txBody>
      </p:sp>
      <p:sp>
        <p:nvSpPr>
          <p:cNvPr id="98" name="矩形: 圓角 97">
            <a:extLst>
              <a:ext uri="{FF2B5EF4-FFF2-40B4-BE49-F238E27FC236}">
                <a16:creationId xmlns:a16="http://schemas.microsoft.com/office/drawing/2014/main" id="{16EC7CBF-60B5-9781-8AAB-C1B520BCF4C2}"/>
              </a:ext>
            </a:extLst>
          </p:cNvPr>
          <p:cNvSpPr/>
          <p:nvPr/>
        </p:nvSpPr>
        <p:spPr>
          <a:xfrm>
            <a:off x="5568933" y="5356522"/>
            <a:ext cx="2043313" cy="276999"/>
          </a:xfrm>
          <a:prstGeom prst="roundRect">
            <a:avLst>
              <a:gd name="adj" fmla="val 18548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Dataset Preparation</a:t>
            </a:r>
            <a:endParaRPr lang="zh-TW" altLang="en-US" sz="1400" b="1" dirty="0">
              <a:solidFill>
                <a:schemeClr val="tx1"/>
              </a:solidFill>
              <a:latin typeface="Cambria Math" panose="02040503050406030204" pitchFamily="18" charset="0"/>
              <a:ea typeface="微軟正黑體" panose="020B0604030504040204" pitchFamily="34" charset="-120"/>
            </a:endParaRPr>
          </a:p>
        </p:txBody>
      </p: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9E5E651B-DF62-729E-DCE3-F75695C3C45E}"/>
              </a:ext>
            </a:extLst>
          </p:cNvPr>
          <p:cNvGrpSpPr/>
          <p:nvPr/>
        </p:nvGrpSpPr>
        <p:grpSpPr>
          <a:xfrm>
            <a:off x="5038577" y="3990079"/>
            <a:ext cx="1247295" cy="734211"/>
            <a:chOff x="5170865" y="3098199"/>
            <a:chExt cx="1247295" cy="734211"/>
          </a:xfrm>
        </p:grpSpPr>
        <p:pic>
          <p:nvPicPr>
            <p:cNvPr id="100" name="Picture 4">
              <a:extLst>
                <a:ext uri="{FF2B5EF4-FFF2-40B4-BE49-F238E27FC236}">
                  <a16:creationId xmlns:a16="http://schemas.microsoft.com/office/drawing/2014/main" id="{2CECD9E2-E9DB-95B2-3E16-B6278FE74C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2587" y="3098199"/>
              <a:ext cx="482761" cy="4827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926A24AD-DAE6-5AC2-96D7-35B1C8071E8F}"/>
                </a:ext>
              </a:extLst>
            </p:cNvPr>
            <p:cNvSpPr txBox="1"/>
            <p:nvPr/>
          </p:nvSpPr>
          <p:spPr>
            <a:xfrm>
              <a:off x="5170865" y="3570800"/>
              <a:ext cx="12472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1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Claude 4.5 sonnet</a:t>
              </a:r>
            </a:p>
          </p:txBody>
        </p:sp>
      </p:grpSp>
      <p:cxnSp>
        <p:nvCxnSpPr>
          <p:cNvPr id="102" name="接點: 肘形 101">
            <a:extLst>
              <a:ext uri="{FF2B5EF4-FFF2-40B4-BE49-F238E27FC236}">
                <a16:creationId xmlns:a16="http://schemas.microsoft.com/office/drawing/2014/main" id="{25099D1B-500A-6423-2C62-67CDE65613A5}"/>
              </a:ext>
            </a:extLst>
          </p:cNvPr>
          <p:cNvCxnSpPr>
            <a:cxnSpLocks/>
            <a:stCxn id="57" idx="0"/>
            <a:endCxn id="103" idx="2"/>
          </p:cNvCxnSpPr>
          <p:nvPr/>
        </p:nvCxnSpPr>
        <p:spPr>
          <a:xfrm rot="16200000" flipV="1">
            <a:off x="6338975" y="3974672"/>
            <a:ext cx="1008876" cy="245815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矩形: 圓角 102">
            <a:extLst>
              <a:ext uri="{FF2B5EF4-FFF2-40B4-BE49-F238E27FC236}">
                <a16:creationId xmlns:a16="http://schemas.microsoft.com/office/drawing/2014/main" id="{D34A714C-C25E-5150-33C4-D73134C7B93A}"/>
              </a:ext>
            </a:extLst>
          </p:cNvPr>
          <p:cNvSpPr/>
          <p:nvPr/>
        </p:nvSpPr>
        <p:spPr>
          <a:xfrm>
            <a:off x="4902025" y="3887335"/>
            <a:ext cx="1424623" cy="811975"/>
          </a:xfrm>
          <a:prstGeom prst="roundRect">
            <a:avLst>
              <a:gd name="adj" fmla="val 5428"/>
            </a:avLst>
          </a:prstGeom>
          <a:noFill/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 b="1" dirty="0">
              <a:latin typeface="Cambria Math" panose="02040503050406030204" pitchFamily="18" charset="0"/>
            </a:endParaRPr>
          </a:p>
        </p:txBody>
      </p:sp>
      <p:pic>
        <p:nvPicPr>
          <p:cNvPr id="104" name="圖片 103" descr="The image displays a series of five rectangles, each containing a pair of terms, starting with 'data' followed by 'label' for the first, second, and fourth rectangles, and 'data' followed by 'label' for the third and fifth rectangles.&#10;&#10;AI 產生的內容可能不正確。">
            <a:extLst>
              <a:ext uri="{FF2B5EF4-FFF2-40B4-BE49-F238E27FC236}">
                <a16:creationId xmlns:a16="http://schemas.microsoft.com/office/drawing/2014/main" id="{259BD68C-84BE-D664-7407-3DF31FF58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899" y="1860503"/>
            <a:ext cx="768689" cy="1071079"/>
          </a:xfrm>
          <a:prstGeom prst="rect">
            <a:avLst/>
          </a:prstGeom>
        </p:spPr>
      </p:pic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0B239A2B-BA7D-8C9F-816D-C830CE3A4372}"/>
              </a:ext>
            </a:extLst>
          </p:cNvPr>
          <p:cNvSpPr txBox="1"/>
          <p:nvPr/>
        </p:nvSpPr>
        <p:spPr>
          <a:xfrm>
            <a:off x="5524832" y="3266916"/>
            <a:ext cx="1419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r>
              <a:rPr lang="en-US" altLang="zh-TW" sz="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r>
              <a:rPr lang="en-US" altLang="zh-TW" sz="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  <p:sp>
        <p:nvSpPr>
          <p:cNvPr id="106" name="箭號: 上-下雙向 105">
            <a:extLst>
              <a:ext uri="{FF2B5EF4-FFF2-40B4-BE49-F238E27FC236}">
                <a16:creationId xmlns:a16="http://schemas.microsoft.com/office/drawing/2014/main" id="{7DD6E6C4-1CDA-C615-A6E2-F818ADA2BB53}"/>
              </a:ext>
            </a:extLst>
          </p:cNvPr>
          <p:cNvSpPr/>
          <p:nvPr/>
        </p:nvSpPr>
        <p:spPr>
          <a:xfrm rot="5400000">
            <a:off x="4049251" y="2896626"/>
            <a:ext cx="301030" cy="1088844"/>
          </a:xfrm>
          <a:prstGeom prst="up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0FC0F235-20AF-5605-C504-BA44BD0F4023}"/>
              </a:ext>
            </a:extLst>
          </p:cNvPr>
          <p:cNvSpPr/>
          <p:nvPr/>
        </p:nvSpPr>
        <p:spPr>
          <a:xfrm>
            <a:off x="4759078" y="1342434"/>
            <a:ext cx="1624720" cy="2250050"/>
          </a:xfrm>
          <a:prstGeom prst="roundRect">
            <a:avLst>
              <a:gd name="adj" fmla="val 5428"/>
            </a:avLst>
          </a:prstGeom>
          <a:noFill/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 b="1" dirty="0">
              <a:latin typeface="Cambria Math" panose="02040503050406030204" pitchFamily="18" charset="0"/>
            </a:endParaRPr>
          </a:p>
        </p:txBody>
      </p: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8E4062E5-FA48-FB7D-520A-55CB635E8029}"/>
              </a:ext>
            </a:extLst>
          </p:cNvPr>
          <p:cNvCxnSpPr>
            <a:cxnSpLocks/>
            <a:stCxn id="100" idx="0"/>
          </p:cNvCxnSpPr>
          <p:nvPr/>
        </p:nvCxnSpPr>
        <p:spPr>
          <a:xfrm flipV="1">
            <a:off x="5621680" y="3614326"/>
            <a:ext cx="4315" cy="37575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BDCEC280-8586-E40F-4321-013CE109C12A}"/>
              </a:ext>
            </a:extLst>
          </p:cNvPr>
          <p:cNvSpPr/>
          <p:nvPr/>
        </p:nvSpPr>
        <p:spPr>
          <a:xfrm>
            <a:off x="521206" y="3159619"/>
            <a:ext cx="3114318" cy="819521"/>
          </a:xfrm>
          <a:prstGeom prst="roundRect">
            <a:avLst>
              <a:gd name="adj" fmla="val 5428"/>
            </a:avLst>
          </a:prstGeom>
          <a:noFill/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 b="1" dirty="0">
              <a:latin typeface="Cambria Math" panose="02040503050406030204" pitchFamily="18" charset="0"/>
            </a:endParaRPr>
          </a:p>
        </p:txBody>
      </p:sp>
      <p:sp>
        <p:nvSpPr>
          <p:cNvPr id="110" name="矩形: 圓角 109">
            <a:extLst>
              <a:ext uri="{FF2B5EF4-FFF2-40B4-BE49-F238E27FC236}">
                <a16:creationId xmlns:a16="http://schemas.microsoft.com/office/drawing/2014/main" id="{D8C08736-88D0-24BF-3CB2-5D3C7C312D2E}"/>
              </a:ext>
            </a:extLst>
          </p:cNvPr>
          <p:cNvSpPr/>
          <p:nvPr/>
        </p:nvSpPr>
        <p:spPr>
          <a:xfrm>
            <a:off x="6807714" y="1224420"/>
            <a:ext cx="4961500" cy="3794565"/>
          </a:xfrm>
          <a:prstGeom prst="roundRect">
            <a:avLst>
              <a:gd name="adj" fmla="val 5428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 b="1" dirty="0">
              <a:latin typeface="Cambria Math" panose="02040503050406030204" pitchFamily="18" charset="0"/>
            </a:endParaRPr>
          </a:p>
        </p:txBody>
      </p:sp>
      <p:sp>
        <p:nvSpPr>
          <p:cNvPr id="111" name="矩形: 圓角 110">
            <a:extLst>
              <a:ext uri="{FF2B5EF4-FFF2-40B4-BE49-F238E27FC236}">
                <a16:creationId xmlns:a16="http://schemas.microsoft.com/office/drawing/2014/main" id="{91F287AC-93D9-1E19-D07A-9A16FD642B5E}"/>
              </a:ext>
            </a:extLst>
          </p:cNvPr>
          <p:cNvSpPr/>
          <p:nvPr/>
        </p:nvSpPr>
        <p:spPr>
          <a:xfrm>
            <a:off x="7931268" y="959665"/>
            <a:ext cx="2852137" cy="398390"/>
          </a:xfrm>
          <a:prstGeom prst="roundRect">
            <a:avLst>
              <a:gd name="adj" fmla="val 18548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Phase 2: DPO RLAIF</a:t>
            </a:r>
            <a:endParaRPr lang="zh-TW" altLang="en-US" sz="1400" b="1" dirty="0">
              <a:solidFill>
                <a:schemeClr val="tx1"/>
              </a:solidFill>
              <a:latin typeface="Cambria Math" panose="020405030504060302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A48F63B2-DB7D-56A0-0F88-88FC18A44918}"/>
              </a:ext>
            </a:extLst>
          </p:cNvPr>
          <p:cNvSpPr txBox="1"/>
          <p:nvPr/>
        </p:nvSpPr>
        <p:spPr>
          <a:xfrm>
            <a:off x="1214177" y="4013139"/>
            <a:ext cx="33577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Top – 8 </a:t>
            </a:r>
            <a:r>
              <a:rPr lang="en-US" altLang="zh-TW" sz="11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similary</a:t>
            </a:r>
            <a:r>
              <a:rPr lang="en-US" altLang="zh-TW" sz="11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personas</a:t>
            </a:r>
          </a:p>
        </p:txBody>
      </p: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E7E0B7A-04A8-0404-7D4C-1DEA1D1B1BB7}"/>
              </a:ext>
            </a:extLst>
          </p:cNvPr>
          <p:cNvSpPr txBox="1"/>
          <p:nvPr/>
        </p:nvSpPr>
        <p:spPr>
          <a:xfrm>
            <a:off x="3532006" y="3013470"/>
            <a:ext cx="1645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SFT</a:t>
            </a:r>
            <a:r>
              <a:rPr lang="zh-TW" altLang="en-US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Fine-tuning</a:t>
            </a:r>
          </a:p>
        </p:txBody>
      </p:sp>
      <p:pic>
        <p:nvPicPr>
          <p:cNvPr id="114" name="Picture 2" descr="Student - Free education icons">
            <a:extLst>
              <a:ext uri="{FF2B5EF4-FFF2-40B4-BE49-F238E27FC236}">
                <a16:creationId xmlns:a16="http://schemas.microsoft.com/office/drawing/2014/main" id="{22120D19-42C8-022D-513F-94CF71AD2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03701" y="1243829"/>
            <a:ext cx="550909" cy="55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" name="圖片 114" descr="The image displays a series of five rectangles, each containing a pair of terms, starting with 'data' followed by 'label' for the first, second, and fourth rectangles, and 'data' followed by 'label' for the third and fifth rectangles.&#10;&#10;AI 產生的內容可能不正確。">
            <a:extLst>
              <a:ext uri="{FF2B5EF4-FFF2-40B4-BE49-F238E27FC236}">
                <a16:creationId xmlns:a16="http://schemas.microsoft.com/office/drawing/2014/main" id="{561BD3B6-F33B-5C3F-7426-C10941BB2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405" y="2464783"/>
            <a:ext cx="765547" cy="1066701"/>
          </a:xfrm>
          <a:prstGeom prst="rect">
            <a:avLst/>
          </a:prstGeom>
        </p:spPr>
      </p:pic>
      <p:pic>
        <p:nvPicPr>
          <p:cNvPr id="116" name="Picture 4" descr="Office worker - Free people icons">
            <a:extLst>
              <a:ext uri="{FF2B5EF4-FFF2-40B4-BE49-F238E27FC236}">
                <a16:creationId xmlns:a16="http://schemas.microsoft.com/office/drawing/2014/main" id="{9946DBAA-5666-C2BD-C12F-282664373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2669" y="2057909"/>
            <a:ext cx="527337" cy="52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圖片 116" descr="The image depicts a cartoon character wearing a suit and tie, with a distinctive yellow lightning bolt on its forehead.&#10;&#10;AI 產生的內容可能不正確。">
            <a:extLst>
              <a:ext uri="{FF2B5EF4-FFF2-40B4-BE49-F238E27FC236}">
                <a16:creationId xmlns:a16="http://schemas.microsoft.com/office/drawing/2014/main" id="{54213115-B43B-D58E-AB13-9511239978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0050" y="3086846"/>
            <a:ext cx="399106" cy="435389"/>
          </a:xfrm>
          <a:prstGeom prst="rect">
            <a:avLst/>
          </a:prstGeom>
        </p:spPr>
      </p:pic>
      <p:sp>
        <p:nvSpPr>
          <p:cNvPr id="118" name="矩形: 圓角 117">
            <a:extLst>
              <a:ext uri="{FF2B5EF4-FFF2-40B4-BE49-F238E27FC236}">
                <a16:creationId xmlns:a16="http://schemas.microsoft.com/office/drawing/2014/main" id="{C103C0CB-008C-8C88-108F-6B1B25B80146}"/>
              </a:ext>
            </a:extLst>
          </p:cNvPr>
          <p:cNvSpPr/>
          <p:nvPr/>
        </p:nvSpPr>
        <p:spPr>
          <a:xfrm>
            <a:off x="7253141" y="2681051"/>
            <a:ext cx="1580168" cy="741307"/>
          </a:xfrm>
          <a:prstGeom prst="roundRect">
            <a:avLst>
              <a:gd name="adj" fmla="val 8521"/>
            </a:avLst>
          </a:prstGeom>
          <a:solidFill>
            <a:srgbClr val="45A7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Llama 3.2 3B</a:t>
            </a:r>
          </a:p>
        </p:txBody>
      </p:sp>
      <p:grpSp>
        <p:nvGrpSpPr>
          <p:cNvPr id="119" name="群組 118">
            <a:extLst>
              <a:ext uri="{FF2B5EF4-FFF2-40B4-BE49-F238E27FC236}">
                <a16:creationId xmlns:a16="http://schemas.microsoft.com/office/drawing/2014/main" id="{6E13A9A1-80E3-864F-B3D3-70F48BFA3FAD}"/>
              </a:ext>
            </a:extLst>
          </p:cNvPr>
          <p:cNvGrpSpPr/>
          <p:nvPr/>
        </p:nvGrpSpPr>
        <p:grpSpPr>
          <a:xfrm>
            <a:off x="10198103" y="1326863"/>
            <a:ext cx="1254229" cy="1120429"/>
            <a:chOff x="10655387" y="2482292"/>
            <a:chExt cx="1474392" cy="1296199"/>
          </a:xfrm>
        </p:grpSpPr>
        <p:pic>
          <p:nvPicPr>
            <p:cNvPr id="120" name="Picture 6">
              <a:extLst>
                <a:ext uri="{FF2B5EF4-FFF2-40B4-BE49-F238E27FC236}">
                  <a16:creationId xmlns:a16="http://schemas.microsoft.com/office/drawing/2014/main" id="{F8786F2B-FF9E-E135-BC0E-A1A52BDFD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13471" y="2482292"/>
              <a:ext cx="1141079" cy="1141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文字方塊 120">
              <a:extLst>
                <a:ext uri="{FF2B5EF4-FFF2-40B4-BE49-F238E27FC236}">
                  <a16:creationId xmlns:a16="http://schemas.microsoft.com/office/drawing/2014/main" id="{7A58BF9F-D1D1-9BD0-3AF0-EC3C38C72F8F}"/>
                </a:ext>
              </a:extLst>
            </p:cNvPr>
            <p:cNvSpPr txBox="1"/>
            <p:nvPr/>
          </p:nvSpPr>
          <p:spPr>
            <a:xfrm>
              <a:off x="10655387" y="3475840"/>
              <a:ext cx="1474392" cy="302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100" b="1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Qwen3-32B-Q4</a:t>
              </a:r>
            </a:p>
          </p:txBody>
        </p:sp>
      </p:grpSp>
      <p:cxnSp>
        <p:nvCxnSpPr>
          <p:cNvPr id="122" name="接點: 肘形 121">
            <a:extLst>
              <a:ext uri="{FF2B5EF4-FFF2-40B4-BE49-F238E27FC236}">
                <a16:creationId xmlns:a16="http://schemas.microsoft.com/office/drawing/2014/main" id="{3FE8D417-BDB3-295B-A29E-0B563CC01AD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661717" y="5297414"/>
            <a:ext cx="821544" cy="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046B0FFE-263F-3DE9-898E-FFB2E8FE244A}"/>
              </a:ext>
            </a:extLst>
          </p:cNvPr>
          <p:cNvGrpSpPr/>
          <p:nvPr/>
        </p:nvGrpSpPr>
        <p:grpSpPr>
          <a:xfrm>
            <a:off x="6821508" y="4013139"/>
            <a:ext cx="2427515" cy="1060589"/>
            <a:chOff x="7084482" y="2719244"/>
            <a:chExt cx="2189190" cy="1196203"/>
          </a:xfrm>
        </p:grpSpPr>
        <p:pic>
          <p:nvPicPr>
            <p:cNvPr id="124" name="圖形 123" descr="圓柱 外框">
              <a:extLst>
                <a:ext uri="{FF2B5EF4-FFF2-40B4-BE49-F238E27FC236}">
                  <a16:creationId xmlns:a16="http://schemas.microsoft.com/office/drawing/2014/main" id="{F8BF5C7D-B2D7-083C-E1A6-2F11469020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84482" y="2719244"/>
              <a:ext cx="2189190" cy="119620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字方塊 124">
                  <a:extLst>
                    <a:ext uri="{FF2B5EF4-FFF2-40B4-BE49-F238E27FC236}">
                      <a16:creationId xmlns:a16="http://schemas.microsoft.com/office/drawing/2014/main" id="{84FACDE9-EBF8-E7F1-3777-0D7AF2F52C9B}"/>
                    </a:ext>
                  </a:extLst>
                </p:cNvPr>
                <p:cNvSpPr txBox="1"/>
                <p:nvPr/>
              </p:nvSpPr>
              <p:spPr>
                <a:xfrm>
                  <a:off x="7739461" y="3129764"/>
                  <a:ext cx="910441" cy="34047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lit/>
                          </m:rP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d>
                          <m:dPr>
                            <m:ctrlP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lit/>
                          </m:rP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384" name="文字方塊 1383">
                  <a:extLst>
                    <a:ext uri="{FF2B5EF4-FFF2-40B4-BE49-F238E27FC236}">
                      <a16:creationId xmlns:a16="http://schemas.microsoft.com/office/drawing/2014/main" id="{097A23BE-6ADC-9A2C-EC61-AEC50EE9DC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9461" y="3129764"/>
                  <a:ext cx="910441" cy="340478"/>
                </a:xfrm>
                <a:prstGeom prst="rect">
                  <a:avLst/>
                </a:prstGeom>
                <a:blipFill>
                  <a:blip r:embed="rId17"/>
                  <a:stretch>
                    <a:fillRect t="-2041" b="-2449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6" name="直線單箭頭接點 125">
            <a:extLst>
              <a:ext uri="{FF2B5EF4-FFF2-40B4-BE49-F238E27FC236}">
                <a16:creationId xmlns:a16="http://schemas.microsoft.com/office/drawing/2014/main" id="{E17D0022-9562-0377-BACF-3DE6750AAFBE}"/>
              </a:ext>
            </a:extLst>
          </p:cNvPr>
          <p:cNvCxnSpPr>
            <a:cxnSpLocks/>
          </p:cNvCxnSpPr>
          <p:nvPr/>
        </p:nvCxnSpPr>
        <p:spPr>
          <a:xfrm flipV="1">
            <a:off x="8058645" y="3510960"/>
            <a:ext cx="4315" cy="37575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線單箭頭接點 126">
            <a:extLst>
              <a:ext uri="{FF2B5EF4-FFF2-40B4-BE49-F238E27FC236}">
                <a16:creationId xmlns:a16="http://schemas.microsoft.com/office/drawing/2014/main" id="{CE4E5E8D-559E-7C35-84B4-8C418D4FA82C}"/>
              </a:ext>
            </a:extLst>
          </p:cNvPr>
          <p:cNvCxnSpPr>
            <a:cxnSpLocks/>
          </p:cNvCxnSpPr>
          <p:nvPr/>
        </p:nvCxnSpPr>
        <p:spPr>
          <a:xfrm flipV="1">
            <a:off x="8047822" y="2244256"/>
            <a:ext cx="4315" cy="375753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4B0C8E0A-2301-9B1D-A108-3B11725F0CAE}"/>
              </a:ext>
            </a:extLst>
          </p:cNvPr>
          <p:cNvSpPr/>
          <p:nvPr/>
        </p:nvSpPr>
        <p:spPr>
          <a:xfrm>
            <a:off x="1058526" y="1912711"/>
            <a:ext cx="947904" cy="741307"/>
          </a:xfrm>
          <a:prstGeom prst="roundRect">
            <a:avLst>
              <a:gd name="adj" fmla="val 8521"/>
            </a:avLst>
          </a:prstGeom>
          <a:solidFill>
            <a:srgbClr val="45A7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050" b="1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Llama 3.2 3B</a:t>
            </a:r>
          </a:p>
        </p:txBody>
      </p:sp>
      <p:cxnSp>
        <p:nvCxnSpPr>
          <p:cNvPr id="129" name="直線單箭頭接點 128">
            <a:extLst>
              <a:ext uri="{FF2B5EF4-FFF2-40B4-BE49-F238E27FC236}">
                <a16:creationId xmlns:a16="http://schemas.microsoft.com/office/drawing/2014/main" id="{2AC40C8E-5E5B-EB91-763E-77507E72BDD4}"/>
              </a:ext>
            </a:extLst>
          </p:cNvPr>
          <p:cNvCxnSpPr>
            <a:cxnSpLocks/>
          </p:cNvCxnSpPr>
          <p:nvPr/>
        </p:nvCxnSpPr>
        <p:spPr>
          <a:xfrm>
            <a:off x="8897554" y="1920525"/>
            <a:ext cx="1208539" cy="0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線單箭頭接點 129">
            <a:extLst>
              <a:ext uri="{FF2B5EF4-FFF2-40B4-BE49-F238E27FC236}">
                <a16:creationId xmlns:a16="http://schemas.microsoft.com/office/drawing/2014/main" id="{8588FBB8-2133-7E11-0245-642E8DED907B}"/>
              </a:ext>
            </a:extLst>
          </p:cNvPr>
          <p:cNvCxnSpPr>
            <a:cxnSpLocks/>
          </p:cNvCxnSpPr>
          <p:nvPr/>
        </p:nvCxnSpPr>
        <p:spPr>
          <a:xfrm>
            <a:off x="10736426" y="2416388"/>
            <a:ext cx="0" cy="354164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1" name="群組 130">
            <a:extLst>
              <a:ext uri="{FF2B5EF4-FFF2-40B4-BE49-F238E27FC236}">
                <a16:creationId xmlns:a16="http://schemas.microsoft.com/office/drawing/2014/main" id="{BB5360C7-D6EC-8B7A-EB92-F11F32B9CEEE}"/>
              </a:ext>
            </a:extLst>
          </p:cNvPr>
          <p:cNvGrpSpPr/>
          <p:nvPr/>
        </p:nvGrpSpPr>
        <p:grpSpPr>
          <a:xfrm>
            <a:off x="9555868" y="4046389"/>
            <a:ext cx="2460098" cy="1084954"/>
            <a:chOff x="7084482" y="2719244"/>
            <a:chExt cx="2189190" cy="1196203"/>
          </a:xfrm>
        </p:grpSpPr>
        <p:pic>
          <p:nvPicPr>
            <p:cNvPr id="132" name="圖形 131" descr="圓柱 外框">
              <a:extLst>
                <a:ext uri="{FF2B5EF4-FFF2-40B4-BE49-F238E27FC236}">
                  <a16:creationId xmlns:a16="http://schemas.microsoft.com/office/drawing/2014/main" id="{2E77AA41-B228-EDAA-0A88-7893D03466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84482" y="2719244"/>
              <a:ext cx="2189190" cy="119620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字方塊 132">
                  <a:extLst>
                    <a:ext uri="{FF2B5EF4-FFF2-40B4-BE49-F238E27FC236}">
                      <a16:creationId xmlns:a16="http://schemas.microsoft.com/office/drawing/2014/main" id="{801228A2-5A9D-4916-DBBF-CE268A8B1EEB}"/>
                    </a:ext>
                  </a:extLst>
                </p:cNvPr>
                <p:cNvSpPr txBox="1"/>
                <p:nvPr/>
              </p:nvSpPr>
              <p:spPr>
                <a:xfrm>
                  <a:off x="7410436" y="3128777"/>
                  <a:ext cx="1537280" cy="353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lit/>
                          </m:rPr>
                          <a:rPr lang="en-US" altLang="zh-TW" sz="1400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d>
                          <m:dPr>
                            <m:ctrlPr>
                              <a:rPr lang="en-US" altLang="zh-TW" sz="1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1400" i="1" dirty="0" err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1400" i="1" dirty="0" err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4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400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 dirty="0" err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p>
                        </m:sSubSup>
                        <m: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14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1400" i="1" dirty="0" err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1400" i="1" dirty="0" err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TW" sz="1400" i="1" dirty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sup>
                        </m:sSubSup>
                        <m:r>
                          <m:rPr>
                            <m:lit/>
                          </m:rPr>
                          <a:rPr lang="en-US" altLang="zh-TW" sz="1400" i="1" dirty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413" name="文字方塊 1412">
                  <a:extLst>
                    <a:ext uri="{FF2B5EF4-FFF2-40B4-BE49-F238E27FC236}">
                      <a16:creationId xmlns:a16="http://schemas.microsoft.com/office/drawing/2014/main" id="{98A4EFEF-B941-0C01-A070-43CF7DA633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0436" y="3128777"/>
                  <a:ext cx="1537280" cy="353110"/>
                </a:xfrm>
                <a:prstGeom prst="rect">
                  <a:avLst/>
                </a:prstGeom>
                <a:blipFill>
                  <a:blip r:embed="rId18"/>
                  <a:stretch>
                    <a:fillRect b="-1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B31C3FB0-927A-4381-98E6-46CB44BBF10A}"/>
              </a:ext>
            </a:extLst>
          </p:cNvPr>
          <p:cNvSpPr txBox="1"/>
          <p:nvPr/>
        </p:nvSpPr>
        <p:spPr>
          <a:xfrm>
            <a:off x="10183294" y="2778705"/>
            <a:ext cx="13322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Cambria Math" panose="02040503050406030204" pitchFamily="18" charset="0"/>
              </a:rPr>
              <a:t>Generate rewards</a:t>
            </a:r>
            <a:endParaRPr lang="zh-TW" altLang="en-US" sz="1200" b="1" dirty="0">
              <a:latin typeface="Cambria Math" panose="02040503050406030204" pitchFamily="18" charset="0"/>
            </a:endParaRPr>
          </a:p>
        </p:txBody>
      </p:sp>
      <p:sp>
        <p:nvSpPr>
          <p:cNvPr id="135" name="文字方塊 134">
            <a:extLst>
              <a:ext uri="{FF2B5EF4-FFF2-40B4-BE49-F238E27FC236}">
                <a16:creationId xmlns:a16="http://schemas.microsoft.com/office/drawing/2014/main" id="{3E02A810-40DE-CE3A-C247-427DA9667818}"/>
              </a:ext>
            </a:extLst>
          </p:cNvPr>
          <p:cNvSpPr txBox="1"/>
          <p:nvPr/>
        </p:nvSpPr>
        <p:spPr>
          <a:xfrm>
            <a:off x="7295291" y="1548602"/>
            <a:ext cx="14544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b="1" dirty="0">
                <a:latin typeface="Cambria Math" panose="02040503050406030204" pitchFamily="18" charset="0"/>
              </a:rPr>
              <a:t>Generate responses</a:t>
            </a:r>
            <a:endParaRPr lang="zh-TW" altLang="en-US" sz="1200" b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A759714B-9724-1B4B-C8AA-92E1BAACA2B2}"/>
                  </a:ext>
                </a:extLst>
              </p:cNvPr>
              <p:cNvSpPr txBox="1"/>
              <p:nvPr/>
            </p:nvSpPr>
            <p:spPr>
              <a:xfrm>
                <a:off x="7309021" y="1813341"/>
                <a:ext cx="1422056" cy="424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TW" b="1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altLang="zh-TW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TW" b="1" i="1" dirty="0" err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b="1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1" i="1" dirty="0" err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zh-TW" b="1" i="1" dirty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altLang="zh-TW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TW" b="1" i="1" dirty="0" err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b="1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1" i="1" dirty="0" err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altLang="zh-TW" b="1" i="1" dirty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bSup>
                      <m:r>
                        <m:rPr>
                          <m:lit/>
                        </m:rPr>
                        <a:rPr lang="en-US" altLang="zh-TW" b="1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A759714B-9724-1B4B-C8AA-92E1BAACA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021" y="1813341"/>
                <a:ext cx="1422056" cy="424796"/>
              </a:xfrm>
              <a:prstGeom prst="rect">
                <a:avLst/>
              </a:prstGeom>
              <a:blipFill>
                <a:blip r:embed="rId19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AB9448B-D468-6CF6-175E-CFC52370C315}"/>
                  </a:ext>
                </a:extLst>
              </p:cNvPr>
              <p:cNvSpPr txBox="1"/>
              <p:nvPr/>
            </p:nvSpPr>
            <p:spPr>
              <a:xfrm>
                <a:off x="10184162" y="2984086"/>
                <a:ext cx="1330685" cy="424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{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b="1" i="1" dirty="0" err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1" i="1" dirty="0" err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bSup>
                    <m:r>
                      <a:rPr lang="en-US" altLang="zh-TW" b="1" i="1" dirty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altLang="zh-TW" b="1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1" i="1" dirty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b="1" i="1" dirty="0" err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b="1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1" i="1" dirty="0" err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>
                        <m:r>
                          <a:rPr lang="en-US" altLang="zh-TW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sup>
                    </m:sSubSup>
                    <m:r>
                      <a:rPr lang="en-US" altLang="zh-TW" b="1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DAB9448B-D468-6CF6-175E-CFC52370C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4162" y="2984086"/>
                <a:ext cx="1330685" cy="424796"/>
              </a:xfrm>
              <a:prstGeom prst="rect">
                <a:avLst/>
              </a:prstGeom>
              <a:blipFill>
                <a:blip r:embed="rId20"/>
                <a:stretch>
                  <a:fillRect l="-4128" t="-2899" r="-459" b="-159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" name="直線單箭頭接點 137">
            <a:extLst>
              <a:ext uri="{FF2B5EF4-FFF2-40B4-BE49-F238E27FC236}">
                <a16:creationId xmlns:a16="http://schemas.microsoft.com/office/drawing/2014/main" id="{F226B3EB-388E-80A8-8AE2-9ECDA08A3DDD}"/>
              </a:ext>
            </a:extLst>
          </p:cNvPr>
          <p:cNvCxnSpPr>
            <a:cxnSpLocks/>
          </p:cNvCxnSpPr>
          <p:nvPr/>
        </p:nvCxnSpPr>
        <p:spPr>
          <a:xfrm>
            <a:off x="10736426" y="3481474"/>
            <a:ext cx="0" cy="395938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D280C7AA-1011-329A-B21F-C1339D6F0A12}"/>
              </a:ext>
            </a:extLst>
          </p:cNvPr>
          <p:cNvSpPr txBox="1"/>
          <p:nvPr/>
        </p:nvSpPr>
        <p:spPr>
          <a:xfrm>
            <a:off x="10178599" y="3927501"/>
            <a:ext cx="13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latin typeface="Cambria Math" panose="02040503050406030204" pitchFamily="18" charset="0"/>
              </a:rPr>
              <a:t>Preference pairs</a:t>
            </a:r>
            <a:endParaRPr lang="zh-TW" altLang="en-US" sz="1200" b="1" dirty="0">
              <a:latin typeface="Cambria Math" panose="02040503050406030204" pitchFamily="18" charset="0"/>
            </a:endParaRPr>
          </a:p>
        </p:txBody>
      </p: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DCC3C0B5-B761-3B37-F601-A5030E8405FB}"/>
              </a:ext>
            </a:extLst>
          </p:cNvPr>
          <p:cNvSpPr txBox="1"/>
          <p:nvPr/>
        </p:nvSpPr>
        <p:spPr>
          <a:xfrm>
            <a:off x="10849438" y="3528026"/>
            <a:ext cx="13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latin typeface="Cambria Math" panose="02040503050406030204" pitchFamily="18" charset="0"/>
              </a:rPr>
              <a:t>Select</a:t>
            </a:r>
            <a:endParaRPr lang="zh-TW" altLang="en-US" sz="1200" b="1" dirty="0">
              <a:latin typeface="Cambria Math" panose="02040503050406030204" pitchFamily="18" charset="0"/>
            </a:endParaRPr>
          </a:p>
        </p:txBody>
      </p:sp>
      <p:sp>
        <p:nvSpPr>
          <p:cNvPr id="141" name="文字方塊 140">
            <a:extLst>
              <a:ext uri="{FF2B5EF4-FFF2-40B4-BE49-F238E27FC236}">
                <a16:creationId xmlns:a16="http://schemas.microsoft.com/office/drawing/2014/main" id="{C662C5A8-220C-94F9-B28F-6DB7D184339E}"/>
              </a:ext>
            </a:extLst>
          </p:cNvPr>
          <p:cNvSpPr txBox="1"/>
          <p:nvPr/>
        </p:nvSpPr>
        <p:spPr>
          <a:xfrm>
            <a:off x="7672834" y="3888086"/>
            <a:ext cx="13202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latin typeface="Cambria Math" panose="02040503050406030204" pitchFamily="18" charset="0"/>
              </a:rPr>
              <a:t>Prompts</a:t>
            </a:r>
            <a:endParaRPr lang="zh-TW" altLang="en-US" sz="1200" b="1" dirty="0">
              <a:latin typeface="Cambria Math" panose="02040503050406030204" pitchFamily="18" charset="0"/>
            </a:endParaRPr>
          </a:p>
        </p:txBody>
      </p:sp>
      <p:sp>
        <p:nvSpPr>
          <p:cNvPr id="142" name="箭號: 上-下雙向 141">
            <a:extLst>
              <a:ext uri="{FF2B5EF4-FFF2-40B4-BE49-F238E27FC236}">
                <a16:creationId xmlns:a16="http://schemas.microsoft.com/office/drawing/2014/main" id="{820EAA86-38C5-E704-E395-9737286A2D47}"/>
              </a:ext>
            </a:extLst>
          </p:cNvPr>
          <p:cNvSpPr/>
          <p:nvPr/>
        </p:nvSpPr>
        <p:spPr>
          <a:xfrm rot="7954079">
            <a:off x="9293991" y="3374768"/>
            <a:ext cx="301030" cy="1088844"/>
          </a:xfrm>
          <a:prstGeom prst="up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0C99D734-E230-E326-03DF-E93DCFFE91A4}"/>
              </a:ext>
            </a:extLst>
          </p:cNvPr>
          <p:cNvSpPr txBox="1"/>
          <p:nvPr/>
        </p:nvSpPr>
        <p:spPr>
          <a:xfrm>
            <a:off x="8927379" y="3766974"/>
            <a:ext cx="1645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chemeClr val="bg1"/>
                </a:solidFill>
                <a:highlight>
                  <a:srgbClr val="00808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DPO</a:t>
            </a:r>
            <a:r>
              <a:rPr lang="zh-TW" altLang="en-US" sz="1400" b="1" dirty="0">
                <a:solidFill>
                  <a:schemeClr val="bg1"/>
                </a:solidFill>
                <a:highlight>
                  <a:srgbClr val="00808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sz="1400" b="1" dirty="0">
                <a:solidFill>
                  <a:schemeClr val="bg1"/>
                </a:solidFill>
                <a:highlight>
                  <a:srgbClr val="00808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75666C8C-C1F3-50FA-D6FD-BB0361AF9EF0}"/>
                  </a:ext>
                </a:extLst>
              </p:cNvPr>
              <p:cNvSpPr txBox="1"/>
              <p:nvPr/>
            </p:nvSpPr>
            <p:spPr>
              <a:xfrm>
                <a:off x="8863225" y="5232199"/>
                <a:ext cx="1009556" cy="301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TW" sz="1400" i="1" dirty="0" smtClean="0">
                          <a:latin typeface="Cambria Math" panose="02040503050406030204" pitchFamily="18" charset="0"/>
                        </a:rPr>
                        <m:t>{</m:t>
                      </m:r>
                      <m:d>
                        <m:dPr>
                          <m:ctrlPr>
                            <a:rPr lang="en-US" altLang="zh-TW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400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err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1400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14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400" i="1" dirty="0" err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400" i="1" dirty="0" err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m:rPr>
                          <m:lit/>
                        </m:rPr>
                        <a:rPr lang="en-US" altLang="zh-TW" sz="1400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75666C8C-C1F3-50FA-D6FD-BB0361AF9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3225" y="5232199"/>
                <a:ext cx="1009556" cy="301878"/>
              </a:xfrm>
              <a:prstGeom prst="rect">
                <a:avLst/>
              </a:prstGeom>
              <a:blipFill>
                <a:blip r:embed="rId21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文字方塊 144">
            <a:extLst>
              <a:ext uri="{FF2B5EF4-FFF2-40B4-BE49-F238E27FC236}">
                <a16:creationId xmlns:a16="http://schemas.microsoft.com/office/drawing/2014/main" id="{A07FFDAB-B938-F21E-FABA-E57252950ECB}"/>
              </a:ext>
            </a:extLst>
          </p:cNvPr>
          <p:cNvSpPr txBox="1"/>
          <p:nvPr/>
        </p:nvSpPr>
        <p:spPr>
          <a:xfrm>
            <a:off x="9695582" y="5298203"/>
            <a:ext cx="3045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0" i="0" dirty="0">
                <a:effectLst/>
                <a:latin typeface="-apple-system"/>
              </a:rPr>
              <a:t>第 </a:t>
            </a:r>
            <a:r>
              <a:rPr lang="en-US" altLang="zh-TW" sz="1200" b="0" i="0" dirty="0" err="1">
                <a:effectLst/>
                <a:latin typeface="-apple-system"/>
              </a:rPr>
              <a:t>i</a:t>
            </a:r>
            <a:r>
              <a:rPr lang="en-US" altLang="zh-TW" sz="1200" b="0" i="0" dirty="0">
                <a:effectLst/>
                <a:latin typeface="-apple-system"/>
              </a:rPr>
              <a:t> </a:t>
            </a:r>
            <a:r>
              <a:rPr lang="zh-TW" altLang="en-US" sz="1200" b="0" i="0" dirty="0">
                <a:effectLst/>
                <a:latin typeface="-apple-system"/>
              </a:rPr>
              <a:t>部影片 </a:t>
            </a:r>
            <a:r>
              <a:rPr lang="en-US" altLang="zh-TW" sz="1200" b="0" i="0" dirty="0">
                <a:effectLst/>
                <a:latin typeface="-apple-system"/>
              </a:rPr>
              <a:t>+ </a:t>
            </a:r>
            <a:r>
              <a:rPr lang="zh-TW" altLang="en-US" sz="1200" b="0" i="0" dirty="0">
                <a:effectLst/>
                <a:latin typeface="-apple-system"/>
              </a:rPr>
              <a:t>第 </a:t>
            </a:r>
            <a:r>
              <a:rPr lang="en-US" altLang="zh-TW" sz="1200" b="0" i="0" dirty="0">
                <a:effectLst/>
                <a:latin typeface="-apple-system"/>
              </a:rPr>
              <a:t>j </a:t>
            </a:r>
            <a:r>
              <a:rPr lang="zh-TW" altLang="en-US" sz="1200" b="0" i="0" dirty="0">
                <a:effectLst/>
                <a:latin typeface="-apple-system"/>
              </a:rPr>
              <a:t>個 </a:t>
            </a:r>
            <a:r>
              <a:rPr lang="en-US" altLang="zh-TW" sz="1200" b="0" i="0" dirty="0">
                <a:effectLst/>
                <a:latin typeface="-apple-system"/>
              </a:rPr>
              <a:t>persona </a:t>
            </a:r>
            <a:r>
              <a:rPr lang="zh-TW" altLang="en-US" sz="1200" b="0" i="0" dirty="0">
                <a:effectLst/>
                <a:latin typeface="-apple-system"/>
              </a:rPr>
              <a:t>的</a:t>
            </a:r>
            <a:r>
              <a:rPr lang="zh-TW" altLang="en-US" sz="1200" dirty="0">
                <a:latin typeface="-apple-system"/>
              </a:rPr>
              <a:t>敘述</a:t>
            </a:r>
            <a:endParaRPr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EB0C5DF6-83A0-E7CB-B282-7D24A7968784}"/>
                  </a:ext>
                </a:extLst>
              </p:cNvPr>
              <p:cNvSpPr txBox="1"/>
              <p:nvPr/>
            </p:nvSpPr>
            <p:spPr>
              <a:xfrm>
                <a:off x="8923119" y="5568306"/>
                <a:ext cx="1014637" cy="3080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TW" sz="1200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altLang="zh-TW" sz="12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200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1200" b="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b="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b="0" i="1" dirty="0" err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TW" sz="1200" b="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altLang="zh-TW" sz="1200" b="0" i="1" dirty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altLang="zh-TW" sz="1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200" b="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1200" b="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200" b="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b="0" i="1" dirty="0" err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TW" sz="1200" b="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  <m:r>
                        <m:rPr>
                          <m:lit/>
                        </m:rPr>
                        <a:rPr lang="en-US" altLang="zh-TW" sz="1200" b="0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sz="1200" dirty="0"/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EB0C5DF6-83A0-E7CB-B282-7D24A7968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119" y="5568306"/>
                <a:ext cx="1014637" cy="308098"/>
              </a:xfrm>
              <a:prstGeom prst="rect">
                <a:avLst/>
              </a:prstGeom>
              <a:blipFill>
                <a:blip r:embed="rId22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文字方塊 146">
            <a:extLst>
              <a:ext uri="{FF2B5EF4-FFF2-40B4-BE49-F238E27FC236}">
                <a16:creationId xmlns:a16="http://schemas.microsoft.com/office/drawing/2014/main" id="{C70EEAC5-171F-E213-D5E6-FB64D94C8E6F}"/>
              </a:ext>
            </a:extLst>
          </p:cNvPr>
          <p:cNvSpPr txBox="1"/>
          <p:nvPr/>
        </p:nvSpPr>
        <p:spPr>
          <a:xfrm>
            <a:off x="9766559" y="5571269"/>
            <a:ext cx="3195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0" i="0" dirty="0">
                <a:effectLst/>
                <a:latin typeface="-apple-system"/>
              </a:rPr>
              <a:t>第 </a:t>
            </a:r>
            <a:r>
              <a:rPr lang="en-US" altLang="zh-TW" sz="1200" b="0" i="0" dirty="0">
                <a:effectLst/>
                <a:latin typeface="-apple-system"/>
              </a:rPr>
              <a:t>(</a:t>
            </a:r>
            <a:r>
              <a:rPr lang="en-US" altLang="zh-TW" sz="1200" b="0" i="0" dirty="0" err="1">
                <a:effectLst/>
                <a:latin typeface="-apple-system"/>
              </a:rPr>
              <a:t>i,j</a:t>
            </a:r>
            <a:r>
              <a:rPr lang="en-US" altLang="zh-TW" sz="1200" b="0" i="0" dirty="0">
                <a:effectLst/>
                <a:latin typeface="-apple-system"/>
              </a:rPr>
              <a:t>) </a:t>
            </a:r>
            <a:r>
              <a:rPr lang="zh-TW" altLang="en-US" sz="1200" b="0" i="0" dirty="0">
                <a:effectLst/>
                <a:latin typeface="-apple-system"/>
              </a:rPr>
              <a:t>個 </a:t>
            </a:r>
            <a:r>
              <a:rPr lang="en-US" altLang="zh-TW" sz="1200" b="0" i="0" dirty="0">
                <a:effectLst/>
                <a:latin typeface="-apple-system"/>
              </a:rPr>
              <a:t>prompt </a:t>
            </a:r>
            <a:r>
              <a:rPr lang="zh-TW" altLang="en-US" sz="1200" b="0" i="0" dirty="0">
                <a:effectLst/>
                <a:latin typeface="-apple-system"/>
              </a:rPr>
              <a:t>的第 </a:t>
            </a:r>
            <a:r>
              <a:rPr lang="en-US" altLang="zh-TW" sz="1200" b="0" i="0" dirty="0">
                <a:effectLst/>
                <a:latin typeface="-apple-system"/>
              </a:rPr>
              <a:t>n </a:t>
            </a:r>
            <a:r>
              <a:rPr lang="zh-TW" altLang="en-US" sz="1200" b="0" i="0" dirty="0">
                <a:effectLst/>
                <a:latin typeface="-apple-system"/>
              </a:rPr>
              <a:t>條候選輸出</a:t>
            </a:r>
            <a:endParaRPr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69B94EB0-3BA4-1B73-7FEA-19F39815BC17}"/>
                  </a:ext>
                </a:extLst>
              </p:cNvPr>
              <p:cNvSpPr txBox="1"/>
              <p:nvPr/>
            </p:nvSpPr>
            <p:spPr>
              <a:xfrm>
                <a:off x="8936396" y="5874959"/>
                <a:ext cx="971740" cy="313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200" dirty="0"/>
                        <m:t>{</m:t>
                      </m:r>
                      <m:sSubSup>
                        <m:sSubSupPr>
                          <m:ctrlPr>
                            <a:rPr lang="en-US" altLang="zh-TW" sz="12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2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1200" b="1" i="1" dirty="0" err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1200" b="1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b="1" i="1" dirty="0" err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altLang="zh-TW" sz="12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zh-TW" sz="1200" b="0" i="1" dirty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altLang="zh-TW" sz="12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200" b="1" i="1" dirty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1200" b="1" i="1" dirty="0" err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1200" b="1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200" b="1" i="1" dirty="0" err="1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  <m:sup>
                          <m:r>
                            <a:rPr lang="en-US" altLang="zh-TW" sz="1200" b="1" i="1" dirty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</m:sSubSup>
                      <m:r>
                        <a:rPr lang="en-US" altLang="zh-TW" sz="1200" b="1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1200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69B94EB0-3BA4-1B73-7FEA-19F39815B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396" y="5874959"/>
                <a:ext cx="971740" cy="313997"/>
              </a:xfrm>
              <a:prstGeom prst="rect">
                <a:avLst/>
              </a:prstGeom>
              <a:blipFill>
                <a:blip r:embed="rId23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文字方塊 148">
            <a:extLst>
              <a:ext uri="{FF2B5EF4-FFF2-40B4-BE49-F238E27FC236}">
                <a16:creationId xmlns:a16="http://schemas.microsoft.com/office/drawing/2014/main" id="{7247A385-750D-68D0-50B2-954C876075B1}"/>
              </a:ext>
            </a:extLst>
          </p:cNvPr>
          <p:cNvSpPr txBox="1"/>
          <p:nvPr/>
        </p:nvSpPr>
        <p:spPr>
          <a:xfrm>
            <a:off x="9779836" y="5906058"/>
            <a:ext cx="3195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0" i="0" dirty="0">
                <a:effectLst/>
                <a:latin typeface="-apple-system"/>
              </a:rPr>
              <a:t>第 </a:t>
            </a:r>
            <a:r>
              <a:rPr lang="en-US" altLang="zh-TW" sz="1200" b="0" i="0" dirty="0">
                <a:effectLst/>
                <a:latin typeface="-apple-system"/>
              </a:rPr>
              <a:t>(</a:t>
            </a:r>
            <a:r>
              <a:rPr lang="en-US" altLang="zh-TW" sz="1200" b="0" i="0" dirty="0" err="1">
                <a:effectLst/>
                <a:latin typeface="-apple-system"/>
              </a:rPr>
              <a:t>i,j</a:t>
            </a:r>
            <a:r>
              <a:rPr lang="en-US" altLang="zh-TW" sz="1200" b="0" i="0" dirty="0">
                <a:effectLst/>
                <a:latin typeface="-apple-system"/>
              </a:rPr>
              <a:t>) </a:t>
            </a:r>
            <a:r>
              <a:rPr lang="zh-TW" altLang="en-US" sz="1200" b="0" i="0" dirty="0">
                <a:effectLst/>
                <a:latin typeface="-apple-system"/>
              </a:rPr>
              <a:t>個 </a:t>
            </a:r>
            <a:r>
              <a:rPr lang="en-US" altLang="zh-TW" sz="1200" b="0" i="0" dirty="0">
                <a:effectLst/>
                <a:latin typeface="-apple-system"/>
              </a:rPr>
              <a:t>prompt </a:t>
            </a:r>
            <a:r>
              <a:rPr lang="zh-TW" altLang="en-US" sz="1200" b="0" i="0" dirty="0">
                <a:effectLst/>
                <a:latin typeface="-apple-system"/>
              </a:rPr>
              <a:t>的第 </a:t>
            </a:r>
            <a:r>
              <a:rPr lang="en-US" altLang="zh-TW" sz="1200" b="0" i="0" dirty="0">
                <a:effectLst/>
                <a:latin typeface="-apple-system"/>
              </a:rPr>
              <a:t>n </a:t>
            </a:r>
            <a:r>
              <a:rPr lang="zh-TW" altLang="en-US" sz="1200" b="0" i="0" dirty="0">
                <a:effectLst/>
                <a:latin typeface="-apple-system"/>
              </a:rPr>
              <a:t>條候選輸出</a:t>
            </a:r>
            <a:endParaRPr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C8ED1EF8-B2CE-0508-7FEE-8D97312C6C22}"/>
                  </a:ext>
                </a:extLst>
              </p:cNvPr>
              <p:cNvSpPr txBox="1"/>
              <p:nvPr/>
            </p:nvSpPr>
            <p:spPr>
              <a:xfrm>
                <a:off x="8931166" y="6178226"/>
                <a:ext cx="606000" cy="353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US" altLang="zh-TW" sz="1400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Sup>
                        <m:sSubSupPr>
                          <m:ctrlPr>
                            <a:rPr lang="en-US" altLang="zh-TW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1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4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 dirty="0" err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</m:sSubSup>
                      <m:r>
                        <m:rPr>
                          <m:lit/>
                        </m:rPr>
                        <a:rPr lang="en-US" altLang="zh-TW" sz="1400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C8ED1EF8-B2CE-0508-7FEE-8D97312C6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166" y="6178226"/>
                <a:ext cx="606000" cy="353110"/>
              </a:xfrm>
              <a:prstGeom prst="rect">
                <a:avLst/>
              </a:prstGeom>
              <a:blipFill>
                <a:blip r:embed="rId24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81BF6DE2-125C-115F-8727-507DBFEDD0A3}"/>
              </a:ext>
            </a:extLst>
          </p:cNvPr>
          <p:cNvSpPr txBox="1"/>
          <p:nvPr/>
        </p:nvSpPr>
        <p:spPr>
          <a:xfrm>
            <a:off x="9501823" y="6242394"/>
            <a:ext cx="3195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effectLst/>
                <a:latin typeface="-apple-system"/>
              </a:rPr>
              <a:t>reward </a:t>
            </a:r>
            <a:r>
              <a:rPr lang="zh-TW" altLang="en-US" sz="1200" b="0" i="0" dirty="0">
                <a:effectLst/>
                <a:latin typeface="-apple-system"/>
              </a:rPr>
              <a:t>最低那條</a:t>
            </a:r>
            <a:r>
              <a:rPr lang="zh-TW" altLang="en-US" sz="1200" dirty="0">
                <a:latin typeface="-apple-system"/>
              </a:rPr>
              <a:t>評價</a:t>
            </a:r>
            <a:endParaRPr lang="zh-TW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F42B5601-3EA2-4720-D1CF-301AB6B85627}"/>
                  </a:ext>
                </a:extLst>
              </p:cNvPr>
              <p:cNvSpPr txBox="1"/>
              <p:nvPr/>
            </p:nvSpPr>
            <p:spPr>
              <a:xfrm>
                <a:off x="5568933" y="6535505"/>
                <a:ext cx="7343334" cy="332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40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1400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4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400" i="1" dirty="0" err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TW" sz="14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bSup>
                      <m:r>
                        <a:rPr lang="en-US" altLang="zh-TW" sz="1400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52" name="文字方塊 151">
                <a:extLst>
                  <a:ext uri="{FF2B5EF4-FFF2-40B4-BE49-F238E27FC236}">
                    <a16:creationId xmlns:a16="http://schemas.microsoft.com/office/drawing/2014/main" id="{F42B5601-3EA2-4720-D1CF-301AB6B85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933" y="6535505"/>
                <a:ext cx="7343334" cy="332848"/>
              </a:xfrm>
              <a:prstGeom prst="rect">
                <a:avLst/>
              </a:prstGeom>
              <a:blipFill>
                <a:blip r:embed="rId25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文字方塊 152">
            <a:extLst>
              <a:ext uri="{FF2B5EF4-FFF2-40B4-BE49-F238E27FC236}">
                <a16:creationId xmlns:a16="http://schemas.microsoft.com/office/drawing/2014/main" id="{D74A3D90-2C7D-FCB3-B05D-22F5FBC6C68E}"/>
              </a:ext>
            </a:extLst>
          </p:cNvPr>
          <p:cNvSpPr txBox="1"/>
          <p:nvPr/>
        </p:nvSpPr>
        <p:spPr>
          <a:xfrm>
            <a:off x="9501822" y="6549728"/>
            <a:ext cx="31951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/>
              <a:t>reward </a:t>
            </a:r>
            <a:r>
              <a:rPr lang="zh-TW" altLang="en-US" sz="1200" dirty="0"/>
              <a:t>最高那條評價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方法 (1/2) — Phase 1：知識蒸餾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目標：將 Claude-3.5 Sonnet 的事後稀疏 JSON 評論能力轉移至 Llama-3.2-3B。</a:t>
            </a:r>
          </a:p>
          <a:p>
            <a:r>
              <a:rPr sz="1500">
                <a:latin typeface="Times New Roman"/>
              </a:rPr>
              <a:t>為何採用蒸餾？真實 (影片, persona, 稀疏列表) 資料不存在；教師 LLM 為唯一可行的 oracle。</a:t>
            </a:r>
          </a:p>
          <a:p>
            <a:r>
              <a:rPr sz="1500">
                <a:latin typeface="Times New Roman"/>
              </a:rPr>
              <a:t>流程：</a:t>
            </a:r>
          </a:p>
          <a:p>
            <a:pPr lvl="1"/>
            <a:r>
              <a:rPr sz="1500">
                <a:latin typeface="Times New Roman"/>
              </a:rPr>
              <a:t>Step 0（一次性）：從 PersonaChat 8K 透過 OpenAI text-embedding-3-small + MMR (centroid query, λ=0.4, 候選池 80) 取樣 8 個 persona — 沿用 SimTube IUI 2025 範式，無手寫 persona。</a:t>
            </a:r>
          </a:p>
          <a:p>
            <a:pPr lvl="1"/>
            <a:r>
              <a:rPr sz="1500">
                <a:latin typeface="Times New Roman"/>
              </a:rPr>
              <a:t>Step 1：收集 100 部 1–3 分鐘 YouTube 影片 → Stage A → 100 個全局 Timeline Script。</a:t>
            </a:r>
          </a:p>
          <a:p>
            <a:pPr lvl="1"/>
            <a:r>
              <a:rPr sz="1500">
                <a:latin typeface="Times New Roman"/>
              </a:rPr>
              <a:t>Step 2：對每組 (影片, persona)，用完整 Timeline Script + persona 描述 prompt Claude。</a:t>
            </a:r>
          </a:p>
          <a:p>
            <a:pPr lvl="1"/>
            <a:r>
              <a:rPr sz="1500">
                <a:latin typeface="Times New Roman"/>
              </a:rPr>
              <a:t>Step 3：輸出稀疏 JSON [{timestamp, comment}, …] — 該 persona 不反應時輸出空陣列 []。</a:t>
            </a:r>
          </a:p>
          <a:p>
            <a:pPr lvl="1"/>
            <a:r>
              <a:rPr sz="1500">
                <a:latin typeface="Times New Roman"/>
              </a:rPr>
              <a:t>Step 4：總計 100 × 8 = 800 個稀疏列表，約 3,200 條評論（成本約 $12，每組一次 API 呼叫）。</a:t>
            </a:r>
          </a:p>
          <a:p>
            <a:r>
              <a:rPr sz="1500">
                <a:latin typeface="Times New Roman"/>
              </a:rPr>
              <a:t>SFT 訓練：8 個獨立 LoRA adapter (rank=8) 共享 4-bit GPTQ Llama-3.2-3B base [3]。</a:t>
            </a:r>
          </a:p>
          <a:p>
            <a:pPr lvl="1"/>
            <a:r>
              <a:rPr sz="1500">
                <a:latin typeface="Times New Roman"/>
              </a:rPr>
              <a:t>為何採用 per-persona LoRA：硬性分離防止 persona 串擾；每個 adapter 專精於一個觀眾類型。</a:t>
            </a:r>
          </a:p>
          <a:p>
            <a:pPr lvl="1"/>
            <a:r>
              <a:rPr sz="1500">
                <a:latin typeface="Times New Roman"/>
              </a:rPr>
              <a:t>每個 adapter 約 25 MB；8 個合計約 200 MB。推理時於相同 base 上切換。</a:t>
            </a:r>
          </a:p>
          <a:p>
            <a:pPr lvl="1"/>
            <a:r>
              <a:rPr sz="1500">
                <a:latin typeface="Times New Roman"/>
              </a:rPr>
              <a:t>透過 Outlines (XGrammar 替代方案) 進行 constrained JSON decoding，確保生成階段 schema 合規 [12][13]。</a:t>
            </a:r>
          </a:p>
          <a:p>
            <a:r>
              <a:rPr sz="1500">
                <a:latin typeface="Times New Roman"/>
              </a:rPr>
              <a:t>[3] Yu et al. Neeko: Dynamic LoRA. EMNLP 2024.   [12] Zhou et al. IFEval, arXiv:2311.07911.   [13] Geng et al. JSONSchemaBench, arXiv:2501.10868.   [20] Zhang et al. PersonaChat. ACL 2018.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08080"/>
                </a:solidFill>
                <a:latin typeface="Times New Roman"/>
              </a:rPr>
              <a:t>[3] Yu et al. Neeko: Dynamic LoRA for Multi-Character Role-Playing. EMNLP 2024.    [4] Action-Guided Engagement, arXiv:2502.12073,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方法 (2/2) — Phase 2：RLAIF + DPO 與 4 面向 list-level reward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imes New Roman"/>
              </a:rPr>
              <a:t>目標：透過 AI feedback 對齊，在 persona 特化維度上超越教師模型 Claude。</a:t>
            </a:r>
          </a:p>
          <a:p>
            <a:r>
              <a:rPr sz="1400">
                <a:latin typeface="Times New Roman"/>
              </a:rPr>
              <a:t>流程（每個 LoRA，迭代 2 輪）：</a:t>
            </a:r>
          </a:p>
          <a:p>
            <a:pPr lvl="1"/>
            <a:r>
              <a:rPr sz="1400">
                <a:latin typeface="Times New Roman"/>
              </a:rPr>
              <a:t>對每組 (影片, persona) prompt 生成 N=4 個候選稀疏列表。</a:t>
            </a:r>
          </a:p>
          <a:p>
            <a:pPr lvl="1"/>
            <a:r>
              <a:rPr sz="1400">
                <a:latin typeface="Times New Roman"/>
              </a:rPr>
              <a:t>以 4 個 list-level reward 為每個列表評分；建構 chosen/rejected pair；執行 DPO。</a:t>
            </a:r>
          </a:p>
          <a:p>
            <a:r>
              <a:rPr sz="1400">
                <a:latin typeface="Times New Roman"/>
              </a:rPr>
              <a:t>4 面向 list-level reward（含權重）：</a:t>
            </a:r>
          </a:p>
          <a:p>
            <a:pPr lvl="1"/>
            <a:r>
              <a:rPr sz="1400">
                <a:latin typeface="Times New Roman"/>
              </a:rPr>
              <a:t>R_timing (30%) — Qwen judge：預測的 timestamp 是否落於值得留言的時刻？（受 SoccerNet event saliency 啟發）</a:t>
            </a:r>
          </a:p>
          <a:p>
            <a:pPr lvl="1"/>
            <a:r>
              <a:rPr sz="1400">
                <a:latin typeface="Times New Roman"/>
              </a:rPr>
              <a:t>R_frequency_match (25%) — 列表長度匹配 persona 的 expected_comment_count 範圍。</a:t>
            </a:r>
          </a:p>
          <a:p>
            <a:pPr lvl="1"/>
            <a:r>
              <a:rPr sz="1400">
                <a:latin typeface="Times New Roman"/>
              </a:rPr>
              <a:t>R_content_quality (25%) — Qwen judge：列表內每條評論的 Persona Consistency + Linguistic Habits + Local Relevance 平均。</a:t>
            </a:r>
          </a:p>
          <a:p>
            <a:pPr lvl="1"/>
            <a:r>
              <a:rPr sz="1400">
                <a:latin typeface="Times New Roman"/>
              </a:rPr>
              <a:t>R_coverage_diversity (20%) — timestamp 在影片中分布均勻，不集中於單一段落。</a:t>
            </a:r>
          </a:p>
          <a:p>
            <a:r>
              <a:rPr sz="1400">
                <a:latin typeface="Times New Roman"/>
              </a:rPr>
              <a:t>穩健性：單一 Qwen3-32B-Q4 frozen judge（v4.1 不採用 multi-judge ensemble）。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實驗設計 — 資料與評估指標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資料：100 部 YouTube 短影片（1–3 分鐘，平均約 2 分鐘），多元類型；英文；≥10K 觀看次數；排除 Shorts (≤60s)。</a:t>
            </a:r>
          </a:p>
          <a:p>
            <a:r>
              <a:rPr sz="1500">
                <a:latin typeface="Times New Roman"/>
              </a:rPr>
              <a:t>100 × 8 persona = 800 個稀疏 JSON 列表；85/10/5 切分為 train/val/test。</a:t>
            </a:r>
          </a:p>
          <a:p>
            <a:endParaRPr sz="1500">
              <a:latin typeface="Times New Roman"/>
            </a:endParaRPr>
          </a:p>
          <a:p>
            <a:r>
              <a:rPr sz="1500">
                <a:latin typeface="Times New Roman"/>
              </a:rPr>
              <a:t>自動評估（4 組，v4.1 最終規格）：</a:t>
            </a:r>
          </a:p>
          <a:p>
            <a:r>
              <a:rPr sz="1500">
                <a:latin typeface="Times New Roman"/>
              </a:rPr>
              <a:t>Group 0 — 格式合規：Schema Compliance Rate (SCR) + Timestamp Validity Rate (TVR)，確定性檢查。</a:t>
            </a:r>
          </a:p>
          <a:p>
            <a:r>
              <a:rPr sz="1500">
                <a:latin typeface="Times New Roman"/>
              </a:rPr>
              <a:t>Group 2 — 內容品質 (Tier 2)：Persona Consistency、Linguistic Habits、Local Relevance (BERTScore)、Coherence、Engagingness (UniEval)。</a:t>
            </a:r>
          </a:p>
          <a:p>
            <a:r>
              <a:rPr sz="1500">
                <a:latin typeface="Times New Roman"/>
              </a:rPr>
              <a:t>Group 3 — 列表級指標（與 reward 獨立）：Teacher Alignment Score (TAS, F1@5s vs Claude) + Persona Content Distinctiveness (embedding cosine)。</a:t>
            </a:r>
          </a:p>
          <a:p>
            <a:r>
              <a:rPr sz="1500">
                <a:latin typeface="Times New Roman"/>
              </a:rPr>
              <a:t>Group 4 — 人類評估：25 名 Upwork 受試者 × 8 部影片 × 每部 30 條評論 × 4 維度 (Relevance / Believability / Helpfulness / Timing Naturalness)；7 點 Likert；Wilcoxon Signed-Rank + Bonferroni；額外 5 題 forced-choice A/B 對照。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預期結果與消融實驗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C00000"/>
                </a:solidFill>
                <a:latin typeface="Times New Roman"/>
              </a:rPr>
              <a:t>預期主結果（8 個 persona macro-avg）— 來自研究計畫之預估值。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034450"/>
              </p:ext>
            </p:extLst>
          </p:nvPr>
        </p:nvGraphicFramePr>
        <p:xfrm>
          <a:off x="548640" y="1371600"/>
          <a:ext cx="7772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方法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Persona 一致性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語言習慣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局部相關性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連貫性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Llama-3B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0.42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0.38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0.45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Claude-</a:t>
                      </a:r>
                      <a:r>
                        <a:rPr lang="en-US" dirty="0"/>
                        <a:t>4</a:t>
                      </a:r>
                      <a:r>
                        <a:rPr dirty="0"/>
                        <a:t>.5 Sonnet (</a:t>
                      </a:r>
                      <a:r>
                        <a:rPr dirty="0" err="1"/>
                        <a:t>教師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0.68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0.65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GPT-4o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0.76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SimLens — 僅 Phase 1 (SFT)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0.60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SimLens — 完整版 (SFT + DPO) ★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0.83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0.78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imes New Roman"/>
              </a:rPr>
              <a:t>規劃之消融實驗：</a:t>
            </a:r>
          </a:p>
          <a:p>
            <a:pPr lvl="1"/>
            <a:r>
              <a:rPr lang="en-US"/>
              <a:t>A1 — SimLens 完整版（baseline；所有比較之參考點）</a:t>
            </a:r>
          </a:p>
          <a:p>
            <a:pPr lvl="1"/>
            <a:r>
              <a:rPr sz="1400">
                <a:latin typeface="Times New Roman"/>
              </a:rPr>
              <a:t>A2 — 移除 Phase 2 RLAIF（僅 SFT）</a:t>
            </a:r>
          </a:p>
          <a:p>
            <a:pPr lvl="1"/>
            <a:r>
              <a:rPr sz="1400">
                <a:latin typeface="Times New Roman"/>
              </a:rPr>
              <a:t>A3 — 移除 Phase 1 蒸餾（從 zero-shot 直接 DPO）</a:t>
            </a:r>
          </a:p>
          <a:p>
            <a:pPr lvl="1"/>
            <a:r>
              <a:rPr sz="1400">
                <a:latin typeface="Times New Roman"/>
              </a:rPr>
              <a:t>A4 — 單一 LoRA + persona prompt（非 per-persona LoRA）</a:t>
            </a:r>
          </a:p>
          <a:p>
            <a:pPr lvl="1"/>
            <a:r>
              <a:rPr sz="1400">
                <a:latin typeface="Times New Roman"/>
              </a:rPr>
              <a:t>A5 — 單面向 reward（僅 R_content）</a:t>
            </a:r>
          </a:p>
          <a:p>
            <a:pPr lvl="1"/>
            <a:r>
              <a:rPr sz="1400">
                <a:latin typeface="Times New Roman"/>
              </a:rPr>
              <a:t>A6 — 移除 R_timing</a:t>
            </a:r>
          </a:p>
          <a:p>
            <a:pPr lvl="1"/>
            <a:r>
              <a:rPr sz="1400">
                <a:latin typeface="Times New Roman"/>
              </a:rPr>
              <a:t>A7 — 移除 R_frequency_match</a:t>
            </a:r>
          </a:p>
          <a:p>
            <a:pPr lvl="1"/>
            <a:r>
              <a:rPr sz="1400">
                <a:latin typeface="Times New Roman"/>
              </a:rPr>
              <a:t>A8 — 移除 R_coverage_diversity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07492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註：§5.4 </a:t>
            </a:r>
            <a:r>
              <a:rPr lang="en-US" dirty="0" err="1"/>
              <a:t>完整表格亦包含</a:t>
            </a:r>
            <a:r>
              <a:rPr lang="en-US" dirty="0"/>
              <a:t> Engagingness (</a:t>
            </a:r>
            <a:r>
              <a:rPr lang="en-US" dirty="0" err="1"/>
              <a:t>UniEval</a:t>
            </a:r>
            <a:r>
              <a:rPr lang="en-US" dirty="0"/>
              <a:t>)；</a:t>
            </a:r>
            <a:r>
              <a:rPr lang="en-US" dirty="0" err="1"/>
              <a:t>本投影片因空間限制省略</a:t>
            </a:r>
            <a:r>
              <a:rPr lang="en-US" dirty="0"/>
              <a:t>。</a:t>
            </a:r>
          </a:p>
          <a:p>
            <a:r>
              <a:rPr sz="1400" dirty="0" err="1">
                <a:latin typeface="Times New Roman"/>
              </a:rPr>
              <a:t>為何預期</a:t>
            </a:r>
            <a:r>
              <a:rPr sz="1400" dirty="0">
                <a:latin typeface="Times New Roman"/>
              </a:rPr>
              <a:t> SimLens 在 persona </a:t>
            </a:r>
            <a:r>
              <a:rPr sz="1400" dirty="0" err="1">
                <a:latin typeface="Times New Roman"/>
              </a:rPr>
              <a:t>特化維度上超越</a:t>
            </a:r>
            <a:r>
              <a:rPr sz="1400" dirty="0">
                <a:latin typeface="Times New Roman"/>
              </a:rPr>
              <a:t> Claude：</a:t>
            </a:r>
          </a:p>
          <a:p>
            <a:pPr lvl="1"/>
            <a:r>
              <a:rPr sz="1400" dirty="0">
                <a:latin typeface="Times New Roman"/>
              </a:rPr>
              <a:t>Per-persona </a:t>
            </a:r>
            <a:r>
              <a:rPr sz="1400" dirty="0" err="1">
                <a:latin typeface="Times New Roman"/>
              </a:rPr>
              <a:t>LoRA</a:t>
            </a:r>
            <a:r>
              <a:rPr sz="1400" dirty="0">
                <a:latin typeface="Times New Roman"/>
              </a:rPr>
              <a:t> adapter </a:t>
            </a:r>
            <a:r>
              <a:rPr sz="1400" dirty="0" err="1">
                <a:latin typeface="Times New Roman"/>
              </a:rPr>
              <a:t>的專精度超越通用教師模型可表達的程度</a:t>
            </a:r>
            <a:r>
              <a:rPr sz="1400" dirty="0">
                <a:latin typeface="Times New Roman"/>
              </a:rPr>
              <a:t>。</a:t>
            </a:r>
          </a:p>
          <a:p>
            <a:pPr lvl="1"/>
            <a:r>
              <a:rPr sz="1400" dirty="0">
                <a:latin typeface="Times New Roman"/>
              </a:rPr>
              <a:t>RLAIF DPO </a:t>
            </a:r>
            <a:r>
              <a:rPr sz="1400" dirty="0" err="1">
                <a:latin typeface="Times New Roman"/>
              </a:rPr>
              <a:t>配合領域特化</a:t>
            </a:r>
            <a:r>
              <a:rPr sz="1400" dirty="0">
                <a:latin typeface="Times New Roman"/>
              </a:rPr>
              <a:t> reward </a:t>
            </a:r>
            <a:r>
              <a:rPr sz="1400" dirty="0" err="1">
                <a:latin typeface="Times New Roman"/>
              </a:rPr>
              <a:t>直接最佳化</a:t>
            </a:r>
            <a:r>
              <a:rPr sz="1400" dirty="0">
                <a:latin typeface="Times New Roman"/>
              </a:rPr>
              <a:t> Persona Consistency 與 Linguistic Habits。</a:t>
            </a:r>
          </a:p>
          <a:p>
            <a:pPr lvl="1"/>
            <a:r>
              <a:rPr sz="1400" dirty="0" err="1">
                <a:latin typeface="Times New Roman"/>
              </a:rPr>
              <a:t>空陣列棄答隱式編碼「無反應</a:t>
            </a:r>
            <a:r>
              <a:rPr sz="1400" dirty="0">
                <a:latin typeface="Times New Roman"/>
              </a:rPr>
              <a:t>」，</a:t>
            </a:r>
            <a:r>
              <a:rPr sz="1400" dirty="0" err="1">
                <a:latin typeface="Times New Roman"/>
              </a:rPr>
              <a:t>無需顯式</a:t>
            </a:r>
            <a:r>
              <a:rPr sz="1400" dirty="0">
                <a:latin typeface="Times New Roman"/>
              </a:rPr>
              <a:t> None </a:t>
            </a:r>
            <a:r>
              <a:rPr sz="1400" dirty="0" err="1">
                <a:latin typeface="Times New Roman"/>
              </a:rPr>
              <a:t>標籤</a:t>
            </a:r>
            <a:r>
              <a:rPr sz="1400" dirty="0">
                <a:latin typeface="Times New Roman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Times New Roman"/>
              </a:rPr>
              <a:t>本研究提出：</a:t>
            </a:r>
          </a:p>
          <a:p>
            <a:pPr lvl="1"/>
            <a:r>
              <a:rPr sz="1600">
                <a:latin typeface="Times New Roman"/>
              </a:rPr>
              <a:t>SimLens — 3B 級 persona 條件式稀疏影片評論生成器，</a:t>
            </a:r>
          </a:p>
          <a:p>
            <a:pPr lvl="1"/>
            <a:r>
              <a:rPr sz="1600">
                <a:latin typeface="Times New Roman"/>
              </a:rPr>
              <a:t>透過 one-shot 蒸餾 + 4 面向 list-level RLAIF DPO 訓練。</a:t>
            </a:r>
          </a:p>
          <a:p>
            <a:r>
              <a:rPr sz="1600">
                <a:latin typeface="Times New Roman"/>
              </a:rPr>
              <a:t>預期達成：</a:t>
            </a:r>
          </a:p>
          <a:p>
            <a:pPr lvl="1"/>
            <a:r>
              <a:rPr sz="1600">
                <a:latin typeface="Times New Roman"/>
              </a:rPr>
              <a:t>C1 (系統)：首個端到端 pipeline，能為每部 1–3 分鐘 YouTube 影片產生 8 個 per-persona 稀疏 JSON 列表，可於 24GB GPU 運行。</a:t>
            </a:r>
          </a:p>
          <a:p>
            <a:pPr lvl="1"/>
            <a:r>
              <a:rPr sz="1600">
                <a:latin typeface="Times New Roman"/>
              </a:rPr>
              <a:t>C2 (方法)：one-shot 時間軸到稀疏 JSON 蒸餾 + 配合創新 R_timing / R_frequency_match / R_coverage_diversity reward 的 RLAIF DPO。</a:t>
            </a:r>
          </a:p>
          <a:p>
            <a:pPr lvl="1"/>
            <a:r>
              <a:rPr sz="1600">
                <a:latin typeface="Times New Roman"/>
              </a:rPr>
              <a:t>C3 (實證)：3B 學生模型在 persona 特化維度上達到/超越 600B 級教師；格式合規率從 zero-shot 的 32% 提升至蒸餾後 96%+。</a:t>
            </a:r>
          </a:p>
          <a:p>
            <a:pPr lvl="1"/>
            <a:r>
              <a:rPr sz="1600">
                <a:latin typeface="Times New Roman"/>
              </a:rPr>
              <a:t>C4 (可重現性)：Persona 來源為 PersonaChat 8K + MMR 取樣 — 消除「為何選這 8 個 persona」的審稿質疑，給定 seed 完全可重現。</a:t>
            </a:r>
          </a:p>
          <a:p>
            <a:r>
              <a:rPr sz="1600">
                <a:latin typeface="Times New Roman"/>
              </a:rPr>
              <a:t>效益：</a:t>
            </a:r>
          </a:p>
          <a:p>
            <a:pPr lvl="1"/>
            <a:r>
              <a:rPr sz="1600">
                <a:latin typeface="Times New Roman"/>
              </a:rPr>
              <a:t>使創作者得以在「發布前」優化內容 — 數分鐘取得回饋，而非數週。</a:t>
            </a:r>
          </a:p>
          <a:p>
            <a:pPr lvl="1"/>
            <a:r>
              <a:rPr sz="1600">
                <a:latin typeface="Times New Roman"/>
              </a:rPr>
              <a:t>端側部署、推理成本 $0 — 讓小型創作者也能負擔事前觀眾分析。</a:t>
            </a:r>
          </a:p>
          <a:p>
            <a:pPr lvl="1"/>
            <a:r>
              <a:rPr sz="1600">
                <a:latin typeface="Times New Roman"/>
              </a:rPr>
              <a:t>與 SimTube 的成本交叉點約 200 部影片；長期使用者邊際成本為零。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參考文獻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latin typeface="Times New Roman"/>
              </a:rPr>
              <a:t>[1] Hung et al. SimTube: Generating Simulated Video Comments through Multimodal AI. arXiv:2411.09577, IUI 2025.</a:t>
            </a:r>
          </a:p>
          <a:p>
            <a:r>
              <a:rPr sz="1300">
                <a:latin typeface="Times New Roman"/>
              </a:rPr>
              <a:t>[2] Bi &amp; Xu. UMaT: Unified Multi-Modal Framework with Semantic and Temporal Alignment. arXiv:2503.09081, 2025.</a:t>
            </a:r>
          </a:p>
          <a:p>
            <a:r>
              <a:rPr sz="1300">
                <a:latin typeface="Times New Roman"/>
              </a:rPr>
              <a:t>[3] Yu et al. Neeko: Leveraging Dynamic LoRA for Efficient Multi-Character Role-Playing Agent. EMNLP 2024 Main.</a:t>
            </a:r>
          </a:p>
          <a:p>
            <a:r>
              <a:rPr sz="1300">
                <a:latin typeface="Times New Roman"/>
              </a:rPr>
              <a:t>[4] Samuel et al. PersonaGym: Evaluating Persona Agents and LLMs. EMNLP 2025 Findings.</a:t>
            </a:r>
          </a:p>
          <a:p>
            <a:r>
              <a:rPr sz="1300">
                <a:latin typeface="Times New Roman"/>
              </a:rPr>
              <a:t>[5] Lee et al. RLAIF: Scaling RLHF with AI Feedback. arXiv:2309.00267 (Google DeepMind, 2023).</a:t>
            </a:r>
          </a:p>
          <a:p>
            <a:r>
              <a:rPr sz="1300">
                <a:latin typeface="Times New Roman"/>
              </a:rPr>
              <a:t>[6] Yuan et al. Self-Rewarding Language Models. arXiv:2401.10020 (Meta + NYU, 2024). [Iterative DPO concept only]</a:t>
            </a:r>
          </a:p>
          <a:p>
            <a:r>
              <a:rPr sz="1300">
                <a:latin typeface="Times New Roman"/>
              </a:rPr>
              <a:t>[7] Rafailov et al. Direct Preference Optimization (DPO). NeurIPS 2023.</a:t>
            </a:r>
          </a:p>
          <a:p>
            <a:r>
              <a:rPr sz="1300">
                <a:latin typeface="Times New Roman"/>
              </a:rPr>
              <a:t>[8] Thakkar et al. PEFT Preference Alignment Trade-Offs. ACL 2024 Main, arXiv:2406.04879.</a:t>
            </a:r>
          </a:p>
          <a:p>
            <a:r>
              <a:rPr sz="1300">
                <a:latin typeface="Times New Roman"/>
              </a:rPr>
              <a:t>[9] Williams. MORLAIF: Multi-Objective RLAIF. arXiv:2406.07496, 2024.</a:t>
            </a:r>
          </a:p>
          <a:p>
            <a:r>
              <a:rPr sz="1300">
                <a:latin typeface="Times New Roman"/>
              </a:rPr>
              <a:t>[10] Hu et al. LoRA: Low-Rank Adaptation of Large Language Models. ICLR 2022.</a:t>
            </a:r>
          </a:p>
          <a:p>
            <a:r>
              <a:rPr sz="1300">
                <a:latin typeface="Times New Roman"/>
              </a:rPr>
              <a:t>[11] Ventura et al. Chapter-Llama: Efficient Chaptering in Hour-Long Videos with LLMs. CVPR 2025, arXiv:2504.00072.</a:t>
            </a:r>
          </a:p>
          <a:p>
            <a:r>
              <a:rPr sz="1300">
                <a:latin typeface="Times New Roman"/>
              </a:rPr>
              <a:t>[12] Zhou et al. Instruction-Following Evaluation (IFEval). arXiv:2311.07911 (Google, 2023).</a:t>
            </a:r>
          </a:p>
          <a:p>
            <a:r>
              <a:rPr sz="1300">
                <a:latin typeface="Times New Roman"/>
              </a:rPr>
              <a:t>[13] Geng et al. JSONSchemaBench: Benchmark of Structured Outputs for LMs. arXiv:2501.10868 (EPFL+MSR, 2025).</a:t>
            </a:r>
          </a:p>
          <a:p>
            <a:r>
              <a:rPr sz="1300">
                <a:latin typeface="Times New Roman"/>
              </a:rPr>
              <a:t>[14] Anthropic. Claude 3.5 Sonnet Model Card, 2024.   [15] OpenAI. GPT-4o System Card, 2024.</a:t>
            </a:r>
          </a:p>
          <a:p>
            <a:r>
              <a:rPr sz="1300">
                <a:latin typeface="Times New Roman"/>
              </a:rPr>
              <a:t>[16] Liu et al. LLaVA-NeXT: Improved Reasoning, OCR, and World Knowledge, 2024.</a:t>
            </a:r>
          </a:p>
          <a:p>
            <a:r>
              <a:rPr sz="1300">
                <a:latin typeface="Times New Roman"/>
              </a:rPr>
              <a:t>[17] Radford et al. Whisper: Robust Speech Recognition via Large-Scale Weak Supervision, 2022.</a:t>
            </a:r>
          </a:p>
          <a:p>
            <a:r>
              <a:rPr sz="1300">
                <a:latin typeface="Times New Roman"/>
              </a:rPr>
              <a:t>[18] Meta AI. Llama 3.2 Release Notes, 2024.</a:t>
            </a:r>
          </a:p>
          <a:p>
            <a:r>
              <a:rPr sz="1300">
                <a:latin typeface="Times New Roman"/>
              </a:rPr>
              <a:t>[19] Zhang et al. Personalizing Dialogue Agents (PersonaChat). ACL 2018, arXiv:1801.07243.</a:t>
            </a:r>
          </a:p>
          <a:p>
            <a:r>
              <a:rPr sz="1300">
                <a:latin typeface="Times New Roman"/>
              </a:rPr>
              <a:t>[20] Carbonell &amp; Goldstein. The Use of MMR for Reranking. SIGIR 1998.</a:t>
            </a:r>
          </a:p>
          <a:p>
            <a:r>
              <a:rPr sz="1300">
                <a:latin typeface="Times New Roman"/>
              </a:rPr>
              <a:t>[21] Zeng et al. Socratic Models: Composing Zero-Shot Multimodal Reasoning with Language. ICLR 2023, arXiv:2204.00598.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2741</Words>
  <Application>Microsoft Office PowerPoint</Application>
  <PresentationFormat>寬螢幕</PresentationFormat>
  <Paragraphs>327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-apple-system</vt:lpstr>
      <vt:lpstr>Aptos</vt:lpstr>
      <vt:lpstr>Arial</vt:lpstr>
      <vt:lpstr>Calibri</vt:lpstr>
      <vt:lpstr>Cambria Math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ㄨㄨㄨㄨㄨ ㄍ</dc:creator>
  <cp:keywords/>
  <dc:description>generated using python-pptx</dc:description>
  <cp:lastModifiedBy>ㄨㄨㄨㄨㄨ ㄍ</cp:lastModifiedBy>
  <cp:revision>6</cp:revision>
  <dcterms:created xsi:type="dcterms:W3CDTF">2013-01-27T09:14:16Z</dcterms:created>
  <dcterms:modified xsi:type="dcterms:W3CDTF">2026-05-06T09:15:00Z</dcterms:modified>
  <cp:category/>
</cp:coreProperties>
</file>