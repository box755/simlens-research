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12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103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1F1F1F"/>
                </a:solidFill>
                <a:latin typeface="Times New Roman"/>
              </a:rPr>
              <a:t>Distillation + RLAIH for Segment-Level</a:t>
            </a:r>
            <a:br>
              <a:rPr dirty="0"/>
            </a:br>
            <a:r>
              <a:rPr sz="3600" b="1" dirty="0">
                <a:solidFill>
                  <a:srgbClr val="1F1F1F"/>
                </a:solidFill>
                <a:latin typeface="Times New Roman"/>
              </a:rPr>
              <a:t>Persona-Conditioned Video Audience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99333" y="4206240"/>
            <a:ext cx="3162854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zh-TW" sz="2400" dirty="0" err="1">
                <a:solidFill>
                  <a:srgbClr val="1F1F1F"/>
                </a:solidFill>
                <a:latin typeface="Times New Roman"/>
              </a:rPr>
              <a:t>Simlens</a:t>
            </a:r>
            <a:endParaRPr lang="en-US" altLang="zh-TW" sz="2400" dirty="0">
              <a:solidFill>
                <a:srgbClr val="1F1F1F"/>
              </a:solidFill>
              <a:latin typeface="Times New Roman"/>
            </a:endParaRPr>
          </a:p>
          <a:p>
            <a:pPr algn="ctr"/>
            <a:r>
              <a:rPr sz="2200" dirty="0">
                <a:solidFill>
                  <a:srgbClr val="1F1F1F"/>
                </a:solidFill>
                <a:latin typeface="Times New Roman"/>
              </a:rPr>
              <a:t>Advisor: </a:t>
            </a:r>
            <a:r>
              <a:rPr lang="en-US" sz="2200" dirty="0">
                <a:solidFill>
                  <a:srgbClr val="1F1F1F"/>
                </a:solidFill>
                <a:latin typeface="Times New Roman"/>
              </a:rPr>
              <a:t>Chen, Yen-Liang</a:t>
            </a:r>
            <a:endParaRPr sz="2200" dirty="0">
              <a:solidFill>
                <a:srgbClr val="1F1F1F"/>
              </a:solidFill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dirty="0">
                <a:solidFill>
                  <a:srgbClr val="1F1F1F"/>
                </a:solidFill>
                <a:latin typeface="Times New Roman"/>
              </a:rPr>
              <a:t>• Introduction</a:t>
            </a:r>
          </a:p>
          <a:p>
            <a:pPr lvl="1">
              <a:spcAft>
                <a:spcPts val="600"/>
              </a:spcAft>
            </a:pPr>
            <a:r>
              <a:rPr sz="1800" dirty="0">
                <a:latin typeface="Times New Roman"/>
              </a:rPr>
              <a:t>– Motivation</a:t>
            </a:r>
          </a:p>
          <a:p>
            <a:pPr lvl="1">
              <a:spcAft>
                <a:spcPts val="600"/>
              </a:spcAft>
            </a:pPr>
            <a:r>
              <a:rPr sz="1800" dirty="0">
                <a:latin typeface="Times New Roman"/>
              </a:rPr>
              <a:t>– Problem Description</a:t>
            </a:r>
          </a:p>
          <a:p>
            <a:pPr lvl="1">
              <a:spcAft>
                <a:spcPts val="600"/>
              </a:spcAft>
            </a:pPr>
            <a:r>
              <a:rPr sz="1800" dirty="0">
                <a:latin typeface="Times New Roman"/>
              </a:rPr>
              <a:t>– Goal</a:t>
            </a:r>
          </a:p>
          <a:p>
            <a:pPr>
              <a:spcAft>
                <a:spcPts val="600"/>
              </a:spcAft>
            </a:pPr>
            <a:r>
              <a:rPr sz="2200" dirty="0">
                <a:solidFill>
                  <a:srgbClr val="1F1F1F"/>
                </a:solidFill>
                <a:latin typeface="Times New Roman"/>
              </a:rPr>
              <a:t>• Related Works</a:t>
            </a:r>
          </a:p>
          <a:p>
            <a:pPr>
              <a:spcAft>
                <a:spcPts val="600"/>
              </a:spcAft>
            </a:pPr>
            <a:r>
              <a:rPr sz="2200" dirty="0">
                <a:solidFill>
                  <a:srgbClr val="1F1F1F"/>
                </a:solidFill>
                <a:latin typeface="Times New Roman"/>
              </a:rPr>
              <a:t>• Proposed Framework</a:t>
            </a:r>
          </a:p>
          <a:p>
            <a:pPr>
              <a:spcAft>
                <a:spcPts val="600"/>
              </a:spcAft>
            </a:pPr>
            <a:r>
              <a:rPr sz="2200" dirty="0">
                <a:solidFill>
                  <a:srgbClr val="1F1F1F"/>
                </a:solidFill>
                <a:latin typeface="Times New Roman"/>
              </a:rPr>
              <a:t>• Experiments</a:t>
            </a:r>
          </a:p>
          <a:p>
            <a:pPr>
              <a:spcAft>
                <a:spcPts val="600"/>
              </a:spcAft>
            </a:pPr>
            <a:r>
              <a:rPr sz="2200" dirty="0">
                <a:solidFill>
                  <a:srgbClr val="1F1F1F"/>
                </a:solidFill>
                <a:latin typeface="Times New Roman"/>
              </a:rPr>
              <a:t>•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Short-form video creators rely heavily on audience feedback to optimize content.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Traditional user studies are costly and slow.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Platform analytics (e.g., YouTube Analytics) only provide post-publish data, with days-to-weeks delay.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Existing AI-driven tools generate one comment per whole video.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They cannot reveal which segments engage which viewers.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Creators need actionable, time-localized insights — not aggregate sentiment.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Goal: shift audience research from passive whole-video feedback to active segment-level prediction.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3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56A6EC3C-0349-C170-AE21-107C09B838DE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Problem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Can a 3B small model — without real persona-level viewing data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generate persona-specific reactions for each segment of a 2-minute video?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Three core challenges: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C1. Data scarcity: no ground-truth dataset of (segment, persona, comment) tuples exists.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C2. Temporal granularity: model must reason about WHICH segment, not the whole video.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C3. On-device constraint: deployment target is a single 24GB consumer GPU.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Existing solutions (SimTube, Claude zero-shot, GPT-4o) cannot satisfy all three simultaneously.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4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5C3EB80C-B1E3-29CA-9889-44A29E7365A8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Build SimLens — a segment-level persona-conditioned video audience simulator.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Quantitative KPIs: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12 segments × 8 personas = 96-cell reaction matrix per 2-minute video.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Latency ≤ 15s on RTX 3090 (vs. ~120s for Claude API).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Persona Consistency ≥ 0.80 (target: surpass Claude teacher 0.74).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Segment Alignment Accuracy ≥ 80% (SimTube baseline: not applicable).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API cost: $0 at inference time (vs. ~$94 / 1K calls for SimTube).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Three contributions: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C1 (System): first segment-level persona-conditioned video simulator.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C2 (Method): two-stage Distillation + RLAIH with 6-aspect reward.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C3 (Empirical): 3B student matches/exceeds 600B-class teacher on domain metrics.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5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F29683F7-2544-6766-FEC7-23C87DF31FEE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Related Work — SimTube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Title: SimTube: Generating Simulated Video Comments through Multimodal AI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Problem: predict YouTube viewer comments before publishing.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Approach: Whisper + GPT-4 (visual captions) → Claude generates one comment per persona for the whole video.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C00000"/>
                </a:solidFill>
                <a:latin typeface="Times New Roman"/>
              </a:rPr>
              <a:t>• Limitation: only whole-video output — no temporal granularity, no segment-level analysis.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Cannot tell creators WHICH part of the video engages which audience.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Relies on heavyweight closed-source APIs (Claude + GPT-4) → high cost, no on-device option.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[1] Hung et al. SimTube: Generating Simulated Video Comments through Multimodal AI. arXiv:2411.09577, 2024.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6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6A14E16A-FA39-A1D9-074D-4DD4D22CD53B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Related Work — UMaT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Title: Everything Can Be Described in Words: A Unified Multi-Modal Framework with Semantic and Temporal Alignment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Problem: long-video understanding under multimodal heterogeneity and limited LLM context.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Approach: convert visual + audio into structured timestamped text segments → unified text representation for LLM.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C00000"/>
                </a:solidFill>
                <a:latin typeface="Times New Roman"/>
              </a:rPr>
              <a:t>• Limitation: focuses on retrieval / QA — does NOT generate persona-conditioned reactions.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Provides temporal alignment recipe but no audience modeling.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SimLens borrows UMaT's structured-text alignment, extends it to generation + persona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[2] Bi &amp; Xu. UMaT: Unified Multi-Modal Framework with Semantic and Temporal Alignment. arXiv:2503.09081,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7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D8CFBFDC-E1B6-66F4-E423-5CC0A7A1C80C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Work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C00000"/>
                </a:solidFill>
                <a:latin typeface="Times New Roman"/>
              </a:rPr>
              <a:t>Comparing SimLens with state-of-the-art systems across four key dimensions.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Segment-level reactions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Persona-conditioned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On-device (≤ 24GB)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None-reaction modeling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SimTube [1]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Claude zero-shot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GPT-4o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Llama-3.2-3B zero-shot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Times New Roman"/>
                        </a:rPr>
                        <a:t>SimLens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[1] Hung et al. SimTube. arXiv:2411.09577,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8</a:t>
            </a: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5A4504B8-CE4D-6E06-725D-765E97D49152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1F1F"/>
                </a:solidFill>
                <a:latin typeface="Times New Roman"/>
              </a:rPr>
              <a:t>SimLens: Distillation + RLAIH for</a:t>
            </a:r>
            <a:br/>
            <a:r>
              <a:rPr sz="3200" b="1">
                <a:solidFill>
                  <a:srgbClr val="1F1F1F"/>
                </a:solidFill>
                <a:latin typeface="Times New Roman"/>
              </a:rPr>
              <a:t>Segment-Level Persona Reaction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50AD1A-AF44-A520-4ED7-CC6F5C8C13FE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The Architecture of SimLens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280160"/>
            <a:ext cx="1033272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i="1">
                <a:solidFill>
                  <a:srgbClr val="808080"/>
                </a:solidFill>
              </a:rPr>
              <a:t>[ Insert architecture diagram here ]</a:t>
            </a:r>
          </a:p>
          <a:p>
            <a:pPr algn="ctr"/>
            <a:r>
              <a:rPr sz="1400">
                <a:solidFill>
                  <a:srgbClr val="808080"/>
                </a:solidFill>
                <a:latin typeface="Times New Roman"/>
              </a:rPr>
              <a:t>Replace with the modified architecture image</a:t>
            </a:r>
            <a:br/>
            <a:r>
              <a:rPr sz="1400">
                <a:solidFill>
                  <a:srgbClr val="808080"/>
                </a:solidFill>
                <a:latin typeface="Times New Roman"/>
              </a:rPr>
              <a:t>(add: Llama-3B + LoRA, Claude as teacher, GPT-4o spot-check, Distillation, RLAIH)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1F1F1F"/>
                </a:solidFill>
                <a:latin typeface="Times New Roman"/>
              </a:rPr>
              <a:t>Stage A: Whisper + LLaVA-NeXT (UMaT-style temporal alignment) → 12 enriched segments  |  Stage B: Llama-3B + 8 persona-LoRA via Distillation (Claude) + RLAIH (Qwen judge, DPO)  |  Stage C: same Llama-3B base → sentiment +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10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AC802F11-3E2B-583C-8779-DACE0247B9D3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Method (1/2) — Phase 1: Knowledge Distillation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Goal: transfer Claude-3.5 Sonnet's segment-level persona reaction ability to Llama-3.2-3B.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Why distillation?  No real (segment, persona, comment) data exists; teacher LLM is the only feasible oracle.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Pipeline: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Collect 100 × 2-min YouTube videos → run Stage A → 100 × 12 enriched segments.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For each (video, segment, persona) tuple: prompt Claude with cumulative narrative + current segment + persona YAML.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Output: a 10–50 word comment OR exactly "None" — explicitly modeling no-reaction behavior.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Times New Roman"/>
              </a:rPr>
              <a:t>– Total: 9,600 cells → ~4,800 comments + ~4,800 None labels (cost ≈ $115).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SFT training: 8 independent LoRA adapters (rank=8) on 4-bit GPTQ Llama-3.2-3B-Instruct.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Novelty: training on "None" labels — teaches the model when a persona stays silent.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11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A7724214-7697-3C88-5DAE-6B096DEA6B46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Method (2/2) — Phase 2: RLAIH with 6-Aspect Reward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Goal: surpass Claude (teacher) on domain-specific dimensions via AI-feedback alignment.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Pipeline (per LoRA, iterated 2 rounds):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Generate N=4 candidates per (segment, persona) prompt.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Score each candidate with 6 reward functions; build chosen/rejected preference pairs; run DPO.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6-aspect reward (with weights):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R_relevance (25%): BERTScore + ROUGE-1 vs. current segment.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R_persona_consistency (20%) — Qwen3-32B-Q4 judge, PersonaGym rubric.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R_linguistic_habits (20%) — Qwen judge.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R_segment_relevance (15%) — NEW: penalizes comments matching wrong segments.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R_coherence (10%) — Qwen judge.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R_engagingness (10%) — UniEval.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Robustness: multi-judge ensemble (Qwen + Gemma2 + Llama-3.1) + GPT-4o spot-check on 200 samples.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12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3A208C7-BB16-0012-1C2E-C34FB52CEB27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Experiments — Data &amp; Evaluation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Data: 100 YouTube short-form videos (~2 min each), 5 categories × 20 videos.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Vlog / Tech Review / Food / Education / Entertainment; English; ≥ 10K views; official captions.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9,600 (video × segment × persona) cells; 85/10/5 train/val/test split.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Automatic metrics (Layer 2):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BERTScore F1, ROUGE-1, Distinct-1/2 (NLG diversity).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Persona Consistency, Linguistic Habits, Coherence, Engagingness (LLM-as-judge).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Segment Alignment Accuracy, None Prediction F1 (NEW — SimLens-specific).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Human evaluation (Layer 1):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25 annotators × 8 videos × 3 personas; 7-point Likert on Relevance / Believability / Helpfulness.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Segment-localization quiz: given a generated comment, identify which of 12 segments it belongs 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GPT-4o spot-check (200 samples) — verify local-judge ↔ GPT-4o Spearman ρ &gt; 0.7.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13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7A7D2193-0B00-D1FF-63D5-A31ED79AA4F4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Expected Results &amp; Ablation Study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C00000"/>
                </a:solidFill>
                <a:latin typeface="Times New Roman"/>
              </a:rPr>
              <a:t>Expected main result (selected metrics) — values are projections from research plan.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7772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Persona Cons.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Linguistic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Segment Relev.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None F1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Llama-3B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0.42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0.38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0.41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Claude-3.5 Sonnet (teacher)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0.74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0.68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0.62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GPT-4o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0.76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0.66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SimLens — Phase 1 only (SFT)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0.71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0.66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0.62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Times New Roman"/>
                        </a:rPr>
                        <a:t>SimLens — full (SFT + DPO) ★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0.83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0.81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1F1F"/>
                </a:solidFill>
                <a:latin typeface="Times New Roman"/>
              </a:rPr>
              <a:t>Planned ablations: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A2 — w/o Phase 2 RLAIH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A3 — w/o Phase 1 Distillation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A4 — single LoRA (no per-persona)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A5 — single-aspect reward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A6 — w/o Segment Relevance reward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A7 — w/o None handling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A8 — w/o iterative DPO (1 round)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00000"/>
                </a:solidFill>
                <a:latin typeface="Times New Roman"/>
              </a:rPr>
              <a:t>Why we expect SimLens to surpass Claude on domain metrics: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Per-persona LoRA adapters specialize beyond what a generalist teacher can express.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RLAIH with domain-specific rewards directly optimizes Persona Consistency and Segment Relevance.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Including None reactions teaches abstention behavior absent in zero-shot teachers.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14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79B86A09-A6BE-F800-EAF1-D86EDF22C218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What we propose: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SimLens — a 3B segment-level persona-conditioned video audience simulator,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trained via two-stage Distillation + RLAIH with a novel 6-aspect reward.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What we expect to achieve: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C1 (System): first end-to-end pipeline producing a 12 × 8 reaction matrix per 2-min video, runnable on 24GB GPU.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C2 (Method): demonstrate that distillation + RLAIH with a Segment Relevance reward can match or surpass a 600B-class teacher.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C3 (Empirical): None-reaction modeling — first system explicitly predicting persona silence (target F1 ≥ 0.78).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Benefits (效益):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Enables creators to optimize content BEFORE publishing, condensing weeks of feedback into minutes.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On-device, $0 inference cost — democratizes pre-publish audience analysis for small creators.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Foundation for future work: scaling to longer videos, more personas, real-time interaction.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15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1016F82-FE2B-5DCB-BC74-A8D946372AC4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[1] Hung et al. SimTube: Generating Simulated Video Comments through Multimodal AI. arXiv:2411.09577,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[2] Bi &amp; Xu. Everything Can Be Described in Words: A Unified Multi-Modal Framework with Semantic and Temporal Alignment (UMaT). arXiv:2503.09081, 2025.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[3] Samuel et al. PersonaGym: Evaluating Persona Agents and LLMs. EMNLP 2025 Findings.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[4] Rafailov et al. Direct Preference Optimization (DPO). NeurIPS 2023.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[5] Lee et al. RLAIF: Scaling Reinforcement Learning from Human Feedback with AI Feedback. arXiv 2023, Google DeepMind.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[6] Williams et al. MORLAIF: Multi-Objective Reinforcement Learning from AI Feedback. arXiv:2406.07496,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[7] Yuan et al. Self-Rewarding Language Models. arXiv:2401.10020,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[8] Hu et al. LoRA: Low-Rank Adaptation of Large Language Models. ICLR 2022.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[9] Liu et al. LLaVA-NeXT: Improved Reasoning, OCR, and World Knowledge,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[10] Radford et al. Robust Speech Recognition via Large-Scale Weak Supervision (Whisper). 2022.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[11] Meta AI. Llama 3.2 Release Notes,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[12] Lambert et al. Tülu 3: Pushing the Frontier of Open Language Model Post-Training,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16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186D2C95-B8E4-F430-251B-7AE4C1BC5FA2}"/>
              </a:ext>
            </a:extLst>
          </p:cNvPr>
          <p:cNvSpPr txBox="1"/>
          <p:nvPr/>
        </p:nvSpPr>
        <p:spPr>
          <a:xfrm>
            <a:off x="3200400" y="644652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900" dirty="0">
                <a:solidFill>
                  <a:srgbClr val="808080"/>
                </a:solidFill>
              </a:rPr>
              <a:t>Department of Information Management,</a:t>
            </a:r>
          </a:p>
          <a:p>
            <a:pPr algn="ctr"/>
            <a:r>
              <a:rPr sz="900" dirty="0">
                <a:solidFill>
                  <a:srgbClr val="808080"/>
                </a:solidFill>
              </a:rPr>
              <a:t>National Central University, Taoyuan, Taiwan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2088</Words>
  <Application>Microsoft Office PowerPoint</Application>
  <PresentationFormat>寬螢幕</PresentationFormat>
  <Paragraphs>250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ㄨㄨㄨㄨㄨ ㄍ</cp:lastModifiedBy>
  <cp:revision>6</cp:revision>
  <dcterms:created xsi:type="dcterms:W3CDTF">2013-01-27T09:14:16Z</dcterms:created>
  <dcterms:modified xsi:type="dcterms:W3CDTF">2026-04-27T06:37:14Z</dcterms:modified>
  <cp:category/>
</cp:coreProperties>
</file>