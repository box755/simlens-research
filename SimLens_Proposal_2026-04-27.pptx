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3" d="100"/>
          <a:sy n="103" d="100"/>
        </p:scale>
        <p:origin x="27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1031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600" b="1">
                <a:solidFill>
                  <a:srgbClr val="1F1F1F"/>
                </a:solidFill>
                <a:latin typeface="Times New Roman"/>
              </a:rPr>
              <a:t>Distillation + RLAIH for Segment-Level</a:t>
            </a:r>
            <a:br/>
            <a:r>
              <a:rPr sz="3600" b="1">
                <a:solidFill>
                  <a:srgbClr val="1F1F1F"/>
                </a:solidFill>
                <a:latin typeface="Times New Roman"/>
              </a:rPr>
              <a:t>Persona-Conditioned Video Audience Simulation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85146" y="4206240"/>
            <a:ext cx="3791231" cy="80021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dirty="0" err="1">
                <a:solidFill>
                  <a:srgbClr val="1F1F1F"/>
                </a:solidFill>
                <a:latin typeface="Times New Roman"/>
              </a:rPr>
              <a:t>傅聖祐</a:t>
            </a:r>
            <a:r>
              <a:rPr sz="2400" dirty="0">
                <a:solidFill>
                  <a:srgbClr val="1F1F1F"/>
                </a:solidFill>
                <a:latin typeface="Times New Roman"/>
              </a:rPr>
              <a:t> (Sheng-You Fu)</a:t>
            </a:r>
          </a:p>
          <a:p>
            <a:pPr algn="ctr"/>
            <a:r>
              <a:rPr sz="2200" dirty="0">
                <a:solidFill>
                  <a:srgbClr val="1F1F1F"/>
                </a:solidFill>
                <a:latin typeface="Times New Roman"/>
              </a:rPr>
              <a:t>Advisor: Prof.</a:t>
            </a:r>
            <a:r>
              <a:rPr lang="en-US" sz="2200" dirty="0">
                <a:solidFill>
                  <a:srgbClr val="1F1F1F"/>
                </a:solidFill>
                <a:latin typeface="Times New Roman"/>
              </a:rPr>
              <a:t> Chen, Yen-Liang</a:t>
            </a:r>
            <a:endParaRPr sz="2200" dirty="0">
              <a:solidFill>
                <a:srgbClr val="1F1F1F"/>
              </a:solidFill>
              <a:latin typeface="Times New Roman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Outline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28016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Introduction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Motivation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Problem Description</a:t>
            </a:r>
          </a:p>
          <a:p>
            <a:pPr lvl="1">
              <a:spcAft>
                <a:spcPts val="600"/>
              </a:spcAft>
            </a:pPr>
            <a:r>
              <a:rPr sz="1800">
                <a:solidFill>
                  <a:srgbClr val="C0C0C0"/>
                </a:solidFill>
                <a:latin typeface="Times New Roman"/>
              </a:rPr>
              <a:t>– Goal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Related Works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Proposed Framework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Experiments</a:t>
            </a:r>
          </a:p>
          <a:p>
            <a:pPr>
              <a:spcAft>
                <a:spcPts val="600"/>
              </a:spcAft>
            </a:pPr>
            <a:r>
              <a:rPr sz="2200">
                <a:solidFill>
                  <a:srgbClr val="1F1F1F"/>
                </a:solidFill>
                <a:latin typeface="Times New Roman"/>
              </a:rPr>
              <a:t>• Conclusion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Motivation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Short-form video creators rely heavily on audience feedback to optimize content.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Traditional user studies are costly and slow.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Platform analytics (e.g., YouTube Analytics) only provide post-publish data, with days-to-weeks delay.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Existing AI-driven tools generate one comment per whole video.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They cannot reveal which segments engage which viewers.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Creators need actionable, time-localized insights — not aggregate sentiment.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Goal: shift audience research from passive whole-video feedback to active segment-level prediction.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Problem Description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Can a 3B small model — without real persona-level viewing data —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generate persona-specific reactions for each segment of a short-form video (30s–3min)?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Three core challenges: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C1. Data scarcity: no ground-truth dataset of (segment, persona, comment) tuples exists.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C2. Temporal granularity: model must reason about WHICH segment, not the whole video.</a:t>
            </a:r>
          </a:p>
          <a:p>
            <a:pPr lvl="1">
              <a:spcAft>
                <a:spcPts val="600"/>
              </a:spcAft>
            </a:pPr>
            <a:r>
              <a:rPr sz="1500">
                <a:solidFill>
                  <a:srgbClr val="404040"/>
                </a:solidFill>
                <a:latin typeface="Times New Roman"/>
              </a:rPr>
              <a:t>– C3. On-device constraint: deployment target is a single 24GB consumer GPU.</a:t>
            </a:r>
          </a:p>
          <a:p>
            <a:pPr>
              <a:spcAft>
                <a:spcPts val="600"/>
              </a:spcAft>
            </a:pPr>
            <a:r>
              <a:rPr sz="1800">
                <a:solidFill>
                  <a:srgbClr val="1F1F1F"/>
                </a:solidFill>
                <a:latin typeface="Times New Roman"/>
              </a:rPr>
              <a:t>• Existing solutions (SimTube, Claude zero-shot, GPT-4o) cannot satisfy all three simultaneously.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Goal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1F1F"/>
                </a:solidFill>
                <a:latin typeface="Times New Roman"/>
              </a:rPr>
              <a:t>• Build SimLens — a segment-level persona-conditioned video audience simulator.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1F1F"/>
                </a:solidFill>
                <a:latin typeface="Times New Roman"/>
              </a:rPr>
              <a:t>• Quantitative KPIs: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Per video: N segments × 8 personas reaction matrix (avg ~96 cells; N = ⌈duration/10s⌉, typically 3–18)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(implemented via 8 per-persona LoRA adapters on a shared Llama-3B base — swapped at inference time).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Latency ≤ 15s on RTX 3090 (vs. ~120s for Claude API).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Persona Consistency ≥ 0.80 (target: surpass Claude teacher 0.74).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Segment Alignment Accuracy ≥ 80% (SimTube baseline: not applicable).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API cost: $0 at inference time (vs. ~$94 / 1K calls for SimTube).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1F1F"/>
                </a:solidFill>
                <a:latin typeface="Times New Roman"/>
              </a:rPr>
              <a:t>• Three contributions: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C1 (System): first segment-level persona-conditioned video simulator.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C2 (Method): two-stage Distillation + RLAIH with 6-aspect reward.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C3 (Empirical): 3B student matches/exceeds 600B-class teacher on domain metrics.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SimTube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2542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Title: SimTube: Generating Simulated Video Comments through Multimodal AI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Problem: predict YouTube viewer comments before publishing.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Approach: Whisper + GPT-4 (visual captions) → Claude generates one comment per persona for the whole video.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C00000"/>
                </a:solidFill>
                <a:latin typeface="Times New Roman"/>
              </a:rPr>
              <a:t>• Limitation: only whole-video output — no temporal granularity, no segment-level analysis.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C00000"/>
                </a:solidFill>
                <a:latin typeface="Times New Roman"/>
              </a:rPr>
              <a:t>– Cannot tell creators WHICH part of the video engages which audience.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C00000"/>
                </a:solidFill>
                <a:latin typeface="Times New Roman"/>
              </a:rPr>
              <a:t>– Relies on heavyweight closed-source APIs (Claude + GPT-4) → high cost, no on-device option.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[1] Hung et al. SimTube: Generating Simulated Video Comments through Multimodal AI. arXiv:2411.09577, 2024.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UMaT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Title: Everything Can Be Described in Words: A Unified Multi-Modal Framework with Semantic and Temporal Alignment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Problem: long-video understanding under multimodal heterogeneity and limited LLM context.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Approach: convert visual + audio into structured timestamped text segments → unified text representation for LLM.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C00000"/>
                </a:solidFill>
                <a:latin typeface="Times New Roman"/>
              </a:rPr>
              <a:t>• Limitation: focuses on retrieval / QA — does NOT generate persona-conditioned reactions.</a:t>
            </a:r>
          </a:p>
          <a:p>
            <a:pPr lvl="1">
              <a:spcAft>
                <a:spcPts val="600"/>
              </a:spcAft>
            </a:pPr>
            <a:r>
              <a:rPr sz="1400">
                <a:solidFill>
                  <a:srgbClr val="C00000"/>
                </a:solidFill>
                <a:latin typeface="Times New Roman"/>
              </a:rPr>
              <a:t>– Provides temporal alignment recipe but no audience modeling.</a:t>
            </a:r>
          </a:p>
          <a:p>
            <a:pPr>
              <a:spcAft>
                <a:spcPts val="600"/>
              </a:spcAft>
            </a:pPr>
            <a:r>
              <a:rPr sz="1700">
                <a:solidFill>
                  <a:srgbClr val="1F1F1F"/>
                </a:solidFill>
                <a:latin typeface="Times New Roman"/>
              </a:rPr>
              <a:t>• SimLens borrows UMaT's structured-text alignment, extends it to generation + persona conditioning.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[2] Bi &amp; Xu. UMaT: Unified Multi-Modal Framework with Semantic and Temporal Alignment. arXiv:2503.09081,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Related Work — RLAIH (Self-Rewarding LM)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Title: Self-Rewarding Language Models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Problem: RLHF is bottlenecked by costly human preference data and a frozen reward model that cannot improve with the LLM.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Approach: an LLM both generates responses AND scores its own outputs via LLM-as-a-Judge → builds preference pairs → Iterative DPO (M1 → M2 → M3).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Llama-2-70B Iter 3 reaches 20.44% win rate on AlpacaEval 2.0 — surpassing Claude 2, Gemini Pro, and GPT-4 0613.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Reward-modeling pairwise accuracy improves across iterations: 65.1% → 78.7% → 80.4% → 81.7%.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C00000"/>
                </a:solidFill>
                <a:latin typeface="Times New Roman"/>
              </a:rPr>
              <a:t>• Limitation: single-aspect additive reward — no domain-specific dimensions; possible length / reward-hacking bias.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C00000"/>
                </a:solidFill>
                <a:latin typeface="Times New Roman"/>
              </a:rPr>
              <a:t>– Generation length grows from 1092 → 2552 tokens across iterations (length bias risk).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SimLens extension: replace single reward with 6-aspect domain-specific reward (Persona Cons. + Linguistic + Segment Relevance + ...).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[5] Yuan et al. Self-Rewarding Language Models. arXiv:2401.10020 (v3, 2025), Meta + NYU.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Work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i="1">
                <a:solidFill>
                  <a:srgbClr val="C00000"/>
                </a:solidFill>
                <a:latin typeface="Times New Roman"/>
              </a:rPr>
              <a:t>Comparing SimLens with state-of-the-art systems across four key dimensions.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554480"/>
          <a:ext cx="1106424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77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Segment-level reactions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Persona-conditioned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On-device (≤ 24GB)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solidFill>
                            <a:srgbClr val="FFFFFF"/>
                          </a:solidFill>
                          <a:latin typeface="Times New Roman"/>
                        </a:rPr>
                        <a:t>None-reaction modeling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SimTube [1]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Claude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>
                          <a:latin typeface="Times New Roman"/>
                        </a:rPr>
                        <a:t>Llama-3.2-3B zero-shot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/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858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latin typeface="Times New Roman"/>
                        </a:rPr>
                        <a:t>SimLens (ours)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500" b="1">
                          <a:latin typeface="Times New Roman"/>
                        </a:rPr>
                        <a:t>✓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  <a:latin typeface="Times New Roman"/>
              </a:rPr>
              <a:t>[1] Hung et al. SimTube. arXiv:2411.09577, 2024.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56032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1F1F1F"/>
                </a:solidFill>
                <a:latin typeface="Times New Roman"/>
              </a:rPr>
              <a:t>SimLens: Distillation + RLAIH for</a:t>
            </a:r>
            <a:br/>
            <a:r>
              <a:rPr sz="3200" b="1">
                <a:solidFill>
                  <a:srgbClr val="1F1F1F"/>
                </a:solidFill>
                <a:latin typeface="Times New Roman"/>
              </a:rPr>
              <a:t>Segment-Level Persona Reaction Generation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The Architecture of SimLens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1280160"/>
            <a:ext cx="10332720" cy="4389120"/>
          </a:xfrm>
          <a:prstGeom prst="rect">
            <a:avLst/>
          </a:prstGeom>
          <a:solidFill>
            <a:srgbClr val="F5F5F5"/>
          </a:solidFill>
          <a:ln>
            <a:solidFill>
              <a:srgbClr val="C0C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2000" i="1">
                <a:solidFill>
                  <a:srgbClr val="808080"/>
                </a:solidFill>
              </a:rPr>
              <a:t>[ Insert architecture diagram here ]</a:t>
            </a:r>
          </a:p>
          <a:p>
            <a:pPr algn="ctr"/>
            <a:r>
              <a:rPr sz="1400">
                <a:solidFill>
                  <a:srgbClr val="808080"/>
                </a:solidFill>
                <a:latin typeface="Times New Roman"/>
              </a:rPr>
              <a:t>Replace with the modified architecture image</a:t>
            </a:r>
            <a:br/>
            <a:r>
              <a:rPr sz="1400">
                <a:solidFill>
                  <a:srgbClr val="808080"/>
                </a:solidFill>
                <a:latin typeface="Times New Roman"/>
              </a:rPr>
              <a:t>(add: Llama-3B + LoRA, Claude as teacher, GPT-4o spot-check, Distillation, RLAIH)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576072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i="1">
                <a:solidFill>
                  <a:srgbClr val="1F1F1F"/>
                </a:solidFill>
                <a:latin typeface="Times New Roman"/>
              </a:rPr>
              <a:t>Stage A: Whisper + LLaVA-NeXT (UMaT-style temporal alignment) → 12 enriched segments  |  Stage B: Llama-3B + 8 persona-LoRA via Distillation (Claude) + RLAIH (Qwen judge, DPO)  |  Stage C: same Llama-3B base → sentiment + report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(1/2) — Phase 1: Knowledge Distillation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Goal: transfer Claude-3.5 Sonnet's segment-level persona reaction ability to Llama-3.2-3B.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Why distillation?  No real (segment, persona, comment) data exists; teacher LLM is the only feasible oracle.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Pipeline: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Collect 100 × 2-min YouTube videos → run Stage A → 100 × 12 enriched segments.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For each (video, segment, persona) tuple: prompt Claude with cumulative narrative + current segment + persona YAML.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Output: a 10–50 word comment OR exactly "None" — explicitly modeling no-reaction behavior [4].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Total: ~9,600 cells (estimated, varies with video length) → ~4,800 comments + ~4,800 None labels (cost ≈ $115).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SFT training: 8 independent LoRA adapters (rank=8) on a shared 4-bit GPTQ Llama-3.2-3B base — one adapter per persona [3].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C00000"/>
                </a:solidFill>
                <a:latin typeface="Times New Roman"/>
              </a:rPr>
              <a:t>– Why per-persona LoRA (not single LoRA + persona prompt)?  Hard separation prevents persona leakage; each adapter specializes on one viewer's distribution.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Each adapter ~25 MB; 8 adapters total ~200 MB. Swapped at inference time on the same frozen base.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Novelty: extending platform-level "ignore" action [4] to persona-internal abstention — when a viewer stays silent on a segment.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8932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>
                <a:solidFill>
                  <a:srgbClr val="808080"/>
                </a:solidFill>
                <a:latin typeface="Times New Roman"/>
              </a:rPr>
              <a:t>[3] Yu et al. Neeko: Dynamic LoRA for Multi-Character Role-Playing. EMNLP 2024.    [4] Action-Guided Engagement, arXiv:2502.12073, 2025.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Method (2/2) — Phase 2: RLAIH with 6-Aspect Reward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0584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Times New Roman"/>
              </a:rPr>
              <a:t>• Goal: surpass Claude (teacher) on domain-specific dimensions via AI-feedback alignment.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Times New Roman"/>
              </a:rPr>
              <a:t>• Pipeline (per LoRA, iterated 2 rounds — following Self-Rewarding LM [Yuan et al., 2024]):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Generate N=4 candidates per (segment, persona) prompt.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Score each candidate with 6 reward functions; build chosen/rejected preference pairs; run DPO.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Times New Roman"/>
              </a:rPr>
              <a:t>• 6-aspect reward (with weights):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R_relevance (25%): BERTScore + ROUGE-1 vs. current segment.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R_persona_consistency (20%) — Qwen3-32B-Q4 judge, PersonaGym rubric.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R_linguistic_habits (20%) — Qwen judge.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R_segment_relevance (15%) — NEW: penalizes comments matching wrong segments.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R_coherence (10%) — Qwen judge.</a:t>
            </a:r>
          </a:p>
          <a:p>
            <a:pPr lvl="1">
              <a:spcAft>
                <a:spcPts val="600"/>
              </a:spcAft>
            </a:pPr>
            <a:r>
              <a:rPr sz="1200">
                <a:solidFill>
                  <a:srgbClr val="404040"/>
                </a:solidFill>
                <a:latin typeface="Times New Roman"/>
              </a:rPr>
              <a:t>– R_engagingness (10%) — UniEval.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1F1F"/>
                </a:solidFill>
                <a:latin typeface="Times New Roman"/>
              </a:rPr>
              <a:t>• Robustness: multi-judge ensemble (Qwen + Gemma2 + Llama-3.1) + GPT-4o spot-check on 200 samples.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Experiments — Data &amp; Evaluation Metrics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Data: 100 YouTube short-form videos (30s–3min, avg ~2min), 5 categories × 20 videos.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Vlog / Tech Review / Food / Education / Entertainment; English; ≥ 10K views; official captions.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~9,600 (video × segment × persona) cells (varies with video length); 85/10/5 train/val/test split.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Automatic metrics (Layer 2):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BERTScore F1, ROUGE-1, Distinct-1/2 (NLG diversity).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Persona Consistency, Linguistic Habits, Coherence, Engagingness (LLM-as-judge).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Segment Alignment Accuracy, None Prediction F1 (NEW — SimLens-specific).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Human evaluation (Layer 1):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25 annotators × 8 videos × 3 personas; 7-point Likert on Relevance / Believability / Helpfulness.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Segment-localization quiz: given a generated comment, identify which of N segments it belongs to.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1F1F"/>
                </a:solidFill>
                <a:latin typeface="Times New Roman"/>
              </a:rPr>
              <a:t>• GPT-4o spot-check (200 samples) — verify local-judge ↔ GPT-4o Spearman ρ &gt; 0.7.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Expected Results &amp; Ablation Study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960120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i="1">
                <a:solidFill>
                  <a:srgbClr val="C00000"/>
                </a:solidFill>
                <a:latin typeface="Times New Roman"/>
              </a:rPr>
              <a:t>Expected main result (selected metrics) — values are projections from research plan.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48640" y="1371600"/>
          <a:ext cx="77724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68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8016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Method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Persona Cons.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Linguistic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Segment Relev.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solidFill>
                            <a:srgbClr val="FFFFFF"/>
                          </a:solidFill>
                          <a:latin typeface="Times New Roman"/>
                        </a:rPr>
                        <a:t>None F1</a:t>
                      </a:r>
                    </a:p>
                  </a:txBody>
                  <a:tcPr>
                    <a:solidFill>
                      <a:srgbClr val="4A7EB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/>
                        </a:rPr>
                        <a:t>Llama-3B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0.42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0.38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0.40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0.41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/>
                        </a:rPr>
                        <a:t>Claude-3.5 Sonnet (teacher)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0.74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0.68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0.65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0.62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/>
                        </a:rPr>
                        <a:t>GPT-4o zero-shot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0.76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0.70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0.66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—</a:t>
                      </a:r>
                    </a:p>
                  </a:txBody>
                  <a:tcPr>
                    <a:solidFill>
                      <a:srgbClr val="ECF2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>
                          <a:latin typeface="Times New Roman"/>
                        </a:rPr>
                        <a:t>SimLens — Phase 1 only (SFT)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0.71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0.66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0.62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>
                          <a:latin typeface="Times New Roman"/>
                        </a:rPr>
                        <a:t>0.65</a:t>
                      </a:r>
                    </a:p>
                  </a:txBody>
                  <a:tcPr>
                    <a:solidFill>
                      <a:srgbClr val="D9E7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>
                          <a:latin typeface="Times New Roman"/>
                        </a:rPr>
                        <a:t>SimLens — full (SFT + DPO) ★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0.83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0.81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0.78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>
                          <a:latin typeface="Times New Roman"/>
                        </a:rPr>
                        <a:t>0.78</a:t>
                      </a:r>
                    </a:p>
                  </a:txBody>
                  <a:tcPr>
                    <a:solidFill>
                      <a:srgbClr val="FFF2C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503920" y="1371600"/>
            <a:ext cx="347472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1F1F1F"/>
                </a:solidFill>
                <a:latin typeface="Times New Roman"/>
              </a:rPr>
              <a:t>Planned ablations: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Times New Roman"/>
              </a:rPr>
              <a:t>• A2 — w/o Phase 2 RLAIH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Times New Roman"/>
              </a:rPr>
              <a:t>• A3 — w/o Phase 1 Distillation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Times New Roman"/>
              </a:rPr>
              <a:t>• A4 — single LoRA (no per-persona)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Times New Roman"/>
              </a:rPr>
              <a:t>• A5 — single-aspect reward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Times New Roman"/>
              </a:rPr>
              <a:t>• A6 — w/o Segment Relevance reward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Times New Roman"/>
              </a:rPr>
              <a:t>• A7 — w/o None handling</a:t>
            </a:r>
          </a:p>
          <a:p>
            <a:pPr>
              <a:spcAft>
                <a:spcPts val="200"/>
              </a:spcAft>
            </a:pPr>
            <a:r>
              <a:rPr sz="1100">
                <a:solidFill>
                  <a:srgbClr val="1F1F1F"/>
                </a:solidFill>
                <a:latin typeface="Times New Roman"/>
              </a:rPr>
              <a:t>• A8 — w/o iterative DPO (1 round)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29768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C00000"/>
                </a:solidFill>
                <a:latin typeface="Times New Roman"/>
              </a:rPr>
              <a:t>Why we expect SimLens to surpass Claude on domain metrics: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• Per-persona LoRA adapters specialize beyond what a generalist teacher can express.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• RLAIH with domain-specific rewards directly optimizes Persona Consistency and Segment Relevance.</a:t>
            </a:r>
          </a:p>
          <a:p>
            <a:pPr>
              <a:spcAft>
                <a:spcPts val="2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• Including None reactions teaches abstention behavior absent in zero-shot teachers.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Conclusion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4937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600">
                <a:solidFill>
                  <a:srgbClr val="1F1F1F"/>
                </a:solidFill>
                <a:latin typeface="Times New Roman"/>
              </a:rPr>
              <a:t>• What we propose: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SimLens — a 3B segment-level persona-conditioned video audience simulator,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trained via two-stage Distillation + RLAIH with a novel 6-aspect reward.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1F1F"/>
                </a:solidFill>
                <a:latin typeface="Times New Roman"/>
              </a:rPr>
              <a:t>• What we expect to achieve: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C1 (System): first end-to-end pipeline producing an N × 8 reaction matrix (avg ~96 cells) for short-form videos, runnable on 24GB GPU.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C2 (Method): demonstrate that distillation + RLAIH with a Segment Relevance reward can match or surpass a 600B-class teacher.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C3 (Empirical): None-reaction modeling — first system explicitly predicting persona silence (target F1 ≥ 0.78).</a:t>
            </a:r>
          </a:p>
          <a:p>
            <a:pPr>
              <a:spcAft>
                <a:spcPts val="600"/>
              </a:spcAft>
            </a:pPr>
            <a:r>
              <a:rPr sz="1600">
                <a:solidFill>
                  <a:srgbClr val="1F1F1F"/>
                </a:solidFill>
                <a:latin typeface="Times New Roman"/>
              </a:rPr>
              <a:t>• Benefits (效益):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Enables creators to optimize content BEFORE publishing, condensing weeks of feedback into minutes.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On-device, $0 inference cost — democratizes pre-publish audience analysis for small creators.</a:t>
            </a:r>
          </a:p>
          <a:p>
            <a:pPr lvl="1">
              <a:spcAft>
                <a:spcPts val="600"/>
              </a:spcAft>
            </a:pPr>
            <a:r>
              <a:rPr sz="1300">
                <a:solidFill>
                  <a:srgbClr val="404040"/>
                </a:solidFill>
                <a:latin typeface="Times New Roman"/>
              </a:rPr>
              <a:t>– Foundation for future work: scaling to longer videos, more personas, real-time interaction.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365760" y="228600"/>
            <a:ext cx="114300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1F1F1F"/>
                </a:solidFill>
                <a:latin typeface="Times New Roman"/>
              </a:rPr>
              <a:t>References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" y="868680"/>
            <a:ext cx="11430000" cy="25400"/>
          </a:xfrm>
          <a:prstGeom prst="rect">
            <a:avLst/>
          </a:prstGeom>
          <a:solidFill>
            <a:srgbClr val="8B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11247120" cy="5120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[1] Hung et al. SimTube: Generating Simulated Video Comments through Multimodal AI. arXiv:2411.09577, 2024.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[2] Bi &amp; Xu. Everything Can Be Described in Words: A Unified Multi-Modal Framework with Semantic and Temporal Alignment (UMaT). arXiv:2503.09081, 2025.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[3] Yu et al. Neeko: Leveraging Dynamic LoRA for Efficient Multi-Character Role-Playing Agent. EMNLP 2024 Main.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[4] Anonymous. Can LLMs Simulate Social Media Engagement? A Study on Action-Guided Response Generation. arXiv:2502.12073, 2025.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[5] Yuan et al. Self-Rewarding Language Models. arXiv:2401.10020 (v3, 2025), Meta + NYU.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[6] Samuel et al. PersonaGym: Evaluating Persona Agents and LLMs. EMNLP 2025 Findings.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[7] Rafailov et al. Direct Preference Optimization (DPO). NeurIPS 2023.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[8] Lee et al. RLAIF: Scaling Reinforcement Learning from Human Feedback with AI Feedback. arXiv:2309.00267, 2023, Google DeepMind.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[9] Williams et al. MORLAIF: Multi-Objective Reinforcement Learning from AI Feedback. arXiv:2406.07496, 2024.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[10] Hu et al. LoRA: Low-Rank Adaptation of Large Language Models. ICLR 2022.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[11] Liu et al. LLaVA-NeXT: Improved Reasoning, OCR, and World Knowledge, 2024.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[12] Radford et al. Robust Speech Recognition via Large-Scale Weak Supervision (Whisper), 2022.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[13] Meta AI. Llama 3.2 Release Notes, 2024.</a:t>
            </a:r>
          </a:p>
          <a:p>
            <a:pPr>
              <a:spcAft>
                <a:spcPts val="400"/>
              </a:spcAft>
            </a:pPr>
            <a:r>
              <a:rPr sz="1300">
                <a:solidFill>
                  <a:srgbClr val="1F1F1F"/>
                </a:solidFill>
                <a:latin typeface="Times New Roman"/>
              </a:rPr>
              <a:t>[14] Lambert et al. Tülu 3: Pushing the Frontier of Open Language Model Post-Training, 2024.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446520"/>
            <a:ext cx="1828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>
                <a:solidFill>
                  <a:srgbClr val="808080"/>
                </a:solidFill>
              </a:rPr>
              <a:t>2026/4/27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00400" y="644652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>
                <a:solidFill>
                  <a:srgbClr val="808080"/>
                </a:solidFill>
              </a:rPr>
              <a:t>Security and Artificial Intelligence Laboratory  (SAILY) Lab,</a:t>
            </a:r>
          </a:p>
          <a:p>
            <a:pPr algn="ctr"/>
            <a:r>
              <a:rPr sz="900">
                <a:solidFill>
                  <a:srgbClr val="808080"/>
                </a:solidFill>
              </a:rPr>
              <a:t>National Central University, Taoyuan, Taiwan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0" y="6446520"/>
            <a:ext cx="457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>
                <a:solidFill>
                  <a:srgbClr val="808080"/>
                </a:solidFill>
              </a:rPr>
              <a:t>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2607</Words>
  <Application>Microsoft Office PowerPoint</Application>
  <PresentationFormat>寬螢幕</PresentationFormat>
  <Paragraphs>270</Paragraphs>
  <Slides>17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17</vt:i4>
      </vt:variant>
    </vt:vector>
  </HeadingPairs>
  <TitlesOfParts>
    <vt:vector size="21" baseType="lpstr">
      <vt:lpstr>Arial</vt:lpstr>
      <vt:lpstr>Calibri</vt:lpstr>
      <vt:lpstr>Times New Roman</vt:lpstr>
      <vt:lpstr>Office Theme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ㄨㄨㄨㄨㄨ ㄍ</cp:lastModifiedBy>
  <cp:revision>2</cp:revision>
  <dcterms:created xsi:type="dcterms:W3CDTF">2013-01-27T09:14:16Z</dcterms:created>
  <dcterms:modified xsi:type="dcterms:W3CDTF">2026-04-28T01:12:04Z</dcterms:modified>
  <cp:category/>
</cp:coreProperties>
</file>