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23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1F1F"/>
                </a:solidFill>
                <a:latin typeface="Times New Roman"/>
              </a:rPr>
              <a:t>Event-Driven Persona-Conditioned</a:t>
            </a:r>
            <a:br/>
            <a:r>
              <a:rPr sz="3600" b="1">
                <a:solidFill>
                  <a:srgbClr val="1F1F1F"/>
                </a:solidFill>
                <a:latin typeface="Times New Roman"/>
              </a:rPr>
              <a:t>Video Commentary Generation via Sparse Temporal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5146" y="4206240"/>
            <a:ext cx="379123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 err="1">
                <a:solidFill>
                  <a:srgbClr val="1F1F1F"/>
                </a:solidFill>
                <a:latin typeface="Times New Roman"/>
              </a:rPr>
              <a:t>傅聖祐</a:t>
            </a:r>
            <a:r>
              <a:rPr sz="2400" dirty="0">
                <a:solidFill>
                  <a:srgbClr val="1F1F1F"/>
                </a:solidFill>
                <a:latin typeface="Times New Roman"/>
              </a:rPr>
              <a:t> (Sheng-You Fu)</a:t>
            </a:r>
          </a:p>
          <a:p>
            <a:pPr algn="ctr"/>
            <a:r>
              <a:rPr sz="2200" dirty="0">
                <a:solidFill>
                  <a:srgbClr val="1F1F1F"/>
                </a:solidFill>
                <a:latin typeface="Times New Roman"/>
              </a:rPr>
              <a:t>Advisor: Prof.</a:t>
            </a:r>
            <a:r>
              <a:rPr lang="en-US" sz="2200" dirty="0">
                <a:solidFill>
                  <a:srgbClr val="1F1F1F"/>
                </a:solidFill>
                <a:latin typeface="Times New Roman"/>
              </a:rPr>
              <a:t> Chen, Yen-Liang</a:t>
            </a:r>
            <a:endParaRPr sz="2200" dirty="0">
              <a:solidFill>
                <a:srgbClr val="1F1F1F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Introduction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Motivation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Problem Description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Goal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Related Works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Proposed Framework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Experiments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Short-form video creators rely heavily on audience feedback to optimize content.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Traditional user studies are costly and slow.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Platform analytics (e.g., YouTube Analytics) only provide post-publish data, with days-to-weeks delay.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Existing AI-driven tools generate one comment per whole video.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They cannot reveal which segments engage which viewers.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Creators need actionable, time-localized insights — not aggregate sentiment.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Goal: shift audience research from passive whole-video feedback to active segment-level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Problem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latin typeface="Times New Roman"/>
              </a:rPr>
              <a:t>Can a 3B small model — without real persona-level viewing data —</a:t>
            </a:r>
          </a:p>
          <a:p>
            <a:pPr lvl="1"/>
            <a:r>
              <a:rPr sz="1800">
                <a:latin typeface="Times New Roman"/>
              </a:rPr>
              <a:t>generate persona-conditioned sparse comments for a 1–3 minute YouTube video?</a:t>
            </a:r>
          </a:p>
          <a:p>
            <a:r>
              <a:rPr sz="1800">
                <a:latin typeface="Times New Roman"/>
              </a:rPr>
              <a:t>Three core challenges:</a:t>
            </a:r>
          </a:p>
          <a:p>
            <a:pPr lvl="1"/>
            <a:r>
              <a:rPr sz="1800">
                <a:latin typeface="Times New Roman"/>
              </a:rPr>
              <a:t>C1. Data scarcity: no ground-truth dataset of (video, persona, sparse-comment-list) tuples exists.</a:t>
            </a:r>
          </a:p>
          <a:p>
            <a:pPr lvl="1"/>
            <a:r>
              <a:rPr sz="1800">
                <a:latin typeface="Times New Roman"/>
              </a:rPr>
              <a:t>C2. Sparse temporal prediction: model must decide which timestamps to comment on, not just what.</a:t>
            </a:r>
          </a:p>
          <a:p>
            <a:pPr lvl="1"/>
            <a:r>
              <a:rPr sz="1800">
                <a:latin typeface="Times New Roman"/>
              </a:rPr>
              <a:t>C3. On-device constraint: deployment target is a single 24GB consumer GPU (training on RTX 5090 32GB; deployment validated on 24GB).</a:t>
            </a:r>
          </a:p>
          <a:p>
            <a:r>
              <a:rPr sz="1800">
                <a:latin typeface="Times New Roman"/>
              </a:rPr>
              <a:t>Existing solutions (SimTube, Claude zero-shot, GPT-4o) cannot satisfy all three simultaneously.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Build SimLens — a persona-conditioned sparse video commentary generator.</a:t>
            </a:r>
          </a:p>
          <a:p>
            <a:r>
              <a:rPr sz="1600">
                <a:latin typeface="Times New Roman"/>
              </a:rPr>
              <a:t>Quantitative KPIs:</a:t>
            </a:r>
          </a:p>
          <a:p>
            <a:pPr lvl="1"/>
            <a:r>
              <a:rPr sz="1600">
                <a:latin typeface="Times New Roman"/>
              </a:rPr>
              <a:t>Per (video, persona): 1 sparse JSON list [{timestamp, comment}, …] (variable length, 0–7 items per persona).</a:t>
            </a:r>
          </a:p>
          <a:p>
            <a:pPr lvl="1"/>
            <a:r>
              <a:rPr sz="1600">
                <a:latin typeface="Times New Roman"/>
              </a:rPr>
              <a:t>Implemented via 8 per-persona LoRA adapters on a shared Llama-3B base — swapped at inference time.</a:t>
            </a:r>
          </a:p>
          <a:p>
            <a:pPr lvl="1"/>
            <a:r>
              <a:rPr sz="1600">
                <a:latin typeface="Times New Roman"/>
              </a:rPr>
              <a:t>Latency ≤ 24s per video on RTX 3090 (training on RTX 5090 32GB) (8 personas, all local).</a:t>
            </a:r>
          </a:p>
          <a:p>
            <a:pPr lvl="1"/>
            <a:r>
              <a:rPr sz="1600">
                <a:latin typeface="Times New Roman"/>
              </a:rPr>
              <a:t>Persona Consistency ≥ 0.83 (target: surpass Claude teacher 0.74).</a:t>
            </a:r>
          </a:p>
          <a:p>
            <a:pPr lvl="1"/>
            <a:r>
              <a:rPr sz="1600">
                <a:latin typeface="Times New Roman"/>
              </a:rPr>
              <a:t>Format Compliance Rate (SCR + TVR) ≥ 95% — guarantees usable structured output.</a:t>
            </a:r>
          </a:p>
          <a:p>
            <a:pPr lvl="1"/>
            <a:r>
              <a:rPr sz="1600">
                <a:latin typeface="Times New Roman"/>
              </a:rPr>
              <a:t>Persona source: 8 sampled from PersonaChat 8K via cosine similarity + MMR (SimTube IUI 2025 paradigm).</a:t>
            </a:r>
          </a:p>
          <a:p>
            <a:pPr lvl="1"/>
            <a:r>
              <a:rPr sz="1600">
                <a:latin typeface="Times New Roman"/>
              </a:rPr>
              <a:t>API cost: $0 at inference time (vs. ~$0.225 / video for SimTube).</a:t>
            </a:r>
          </a:p>
          <a:p>
            <a:r>
              <a:rPr sz="1600">
                <a:latin typeface="Times New Roman"/>
              </a:rPr>
              <a:t>Three contributions:</a:t>
            </a:r>
          </a:p>
          <a:p>
            <a:pPr lvl="1"/>
            <a:r>
              <a:rPr sz="1600">
                <a:latin typeface="Times New Roman"/>
              </a:rPr>
              <a:t>C1 (System): first persona-conditioned sparse temporal commentary generator on consumer GPU.</a:t>
            </a:r>
          </a:p>
          <a:p>
            <a:pPr lvl="1"/>
            <a:r>
              <a:rPr sz="1600">
                <a:latin typeface="Times New Roman"/>
              </a:rPr>
              <a:t>C2 (Method): one-shot timeline-to-sparse-JSON Distillation + RLAIF with 4-aspect list-level reward.</a:t>
            </a:r>
          </a:p>
          <a:p>
            <a:pPr lvl="1"/>
            <a:r>
              <a:rPr sz="1600">
                <a:latin typeface="Times New Roman"/>
              </a:rPr>
              <a:t>C3 (Empirical): 3B student matches/exceeds 600B-class teacher on persona-specific dimensions.</a:t>
            </a:r>
          </a:p>
          <a:p>
            <a:pPr lvl="1"/>
            <a:r>
              <a:rPr sz="1600">
                <a:latin typeface="Times New Roman"/>
              </a:rPr>
              <a:t>C4 (Reproducibility): persona source from PersonaChat 8K + MMR — fully reproducible given seed.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SimTube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2542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latin typeface="Times New Roman"/>
              </a:rPr>
              <a:t>Title: SimTube: Generating Simulated Video Comments through Multimodal AI</a:t>
            </a:r>
          </a:p>
          <a:p>
            <a:r>
              <a:rPr sz="1700">
                <a:latin typeface="Times New Roman"/>
              </a:rPr>
              <a:t>Problem: predict YouTube viewer comments before publishing.</a:t>
            </a:r>
          </a:p>
          <a:p>
            <a:r>
              <a:rPr sz="1700">
                <a:latin typeface="Times New Roman"/>
              </a:rPr>
              <a:t>Approach: Whisper + LLaVA (visual captions) → Claude generates one comment per persona for the whole video.</a:t>
            </a:r>
          </a:p>
          <a:p>
            <a:r>
              <a:rPr sz="1700">
                <a:latin typeface="Times New Roman"/>
              </a:rPr>
              <a:t>Limitation: only whole-video output — no temporal granularity, no segment-level analysis.</a:t>
            </a:r>
          </a:p>
          <a:p>
            <a:pPr lvl="1"/>
            <a:r>
              <a:rPr sz="1700">
                <a:latin typeface="Times New Roman"/>
              </a:rPr>
              <a:t>Cannot tell creators WHICH part of the video engages which audience.</a:t>
            </a:r>
          </a:p>
          <a:p>
            <a:pPr lvl="1"/>
            <a:r>
              <a:rPr sz="1700">
                <a:latin typeface="Times New Roman"/>
              </a:rPr>
              <a:t>Pay-per-use Claude API at inference time (~$0.225/video) → no on-device option.</a:t>
            </a:r>
          </a:p>
          <a:p>
            <a:r>
              <a:rPr sz="1700">
                <a:latin typeface="Times New Roman"/>
              </a:rPr>
              <a:t>[1] Hung et al. SimTube. arXiv:2411.09577, IUI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UMaT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Title: Everything Can Be Described in Words: A Unified Multi-Modal Framework with Semantic and Temporal Alignment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Problem: long-video understanding under multimodal heterogeneity and limited LLM context.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Approach: convert visual + audio into structured timestamped text segments → unified text representation for LLM.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C00000"/>
                </a:solidFill>
                <a:latin typeface="Times New Roman"/>
              </a:rPr>
              <a:t>• Limitation: focuses on retrieval / QA — does NOT generate persona-conditioned reactions.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C00000"/>
                </a:solidFill>
                <a:latin typeface="Times New Roman"/>
              </a:rPr>
              <a:t>– Provides temporal alignment recipe but no audience modeling.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SimLens borrows UMaT's structured-text alignment, extends it to generation + persona conditioning.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[2] Bi &amp; Xu. UMaT: Unified Multi-Modal Framework with Semantic and Temporal Alignment. arXiv:2503.09081,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RLAIF + DPO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Title: RLAIF (Lee et al., 2023) + Direct Preference Optimization (Rafailov et al., NeurIPS 2023)</a:t>
            </a:r>
          </a:p>
          <a:p>
            <a:r>
              <a:rPr sz="1500">
                <a:latin typeface="Times New Roman"/>
              </a:rPr>
              <a:t>Problem: RLHF is bottlenecked by costly human preference data.</a:t>
            </a:r>
          </a:p>
          <a:p>
            <a:r>
              <a:rPr sz="1500">
                <a:latin typeface="Times New Roman"/>
              </a:rPr>
              <a:t>RLAIF Approach (Lee et al., d-RLAIF variant): use a frozen off-the-shelf LLM as judge to score outputs;</a:t>
            </a:r>
          </a:p>
          <a:p>
            <a:pPr lvl="1"/>
            <a:r>
              <a:rPr sz="1500">
                <a:latin typeface="Times New Roman"/>
              </a:rPr>
              <a:t>avoids training a reward model; AI feedback proven to match or exceed human RLHF in some tasks.</a:t>
            </a:r>
          </a:p>
          <a:p>
            <a:r>
              <a:rPr sz="1500">
                <a:latin typeface="Times New Roman"/>
              </a:rPr>
              <a:t>DPO Approach: directly optimize policy from preference pairs without explicit reward model;</a:t>
            </a:r>
          </a:p>
          <a:p>
            <a:pPr lvl="1"/>
            <a:r>
              <a:rPr sz="1500">
                <a:latin typeface="Times New Roman"/>
              </a:rPr>
              <a:t>LoRA-friendly, single-GPU trainable — Thakkar (ACL 2024) systematically validates LoRA-SFT → LoRA-DPO.</a:t>
            </a:r>
          </a:p>
          <a:p>
            <a:r>
              <a:rPr sz="1500">
                <a:latin typeface="Times New Roman"/>
              </a:rPr>
              <a:t>SimLens combination: RLAIF (Qwen3-32B as frozen judge) + DPO (8 LoRA adapters);</a:t>
            </a:r>
          </a:p>
          <a:p>
            <a:pPr lvl="1"/>
            <a:r>
              <a:rPr sz="1500">
                <a:latin typeface="Times New Roman"/>
              </a:rPr>
              <a:t>Multi-aspect 4-reward (R_timing, R_frequency_match, R_content_quality, R_coverage_diversity) — list-level scoring.</a:t>
            </a:r>
          </a:p>
          <a:p>
            <a:r>
              <a:rPr sz="1500">
                <a:latin typeface="Times New Roman"/>
              </a:rPr>
              <a:t>[5] Lee et al. RLAIF. arXiv:2309.00267 (Google DeepMind, 2023).    [7] Rafailov et al. DPO. NeurIPS 2023.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[6] Yuan et al. Self-Rewarding Language Models. arXiv:2401.10020 (Meta + NYU, 2024)  [Iterative DPO concept only]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Note: video commentary generation has no established SOTA; Claude / GPT-4o are general-purpose LLM baselines, not video-commentary specialists. SimTube is the only direct prior work in this niche.</a:t>
            </a:r>
          </a:p>
          <a:p>
            <a:r>
              <a:rPr sz="1400">
                <a:latin typeface="Times New Roman"/>
              </a:rPr>
              <a:t>Additional dimension (not in table): SimLens reproduces SimTube's PersonaChat sampling paradigm — personas are not hand-crafted, ensuring per-paper reproducibility.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Sparse temporal prediction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Persona-conditioned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On-device (≤ 24GB)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Empty-list abstention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SimTube [1]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Claude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Llama-3.2-3B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Times New Roman"/>
                        </a:rPr>
                        <a:t>SimLens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[1] Hung et al. SimTube. arXiv:2411.09577,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1F1F"/>
                </a:solidFill>
                <a:latin typeface="Times New Roman"/>
              </a:rPr>
              <a:t>SimLens: Distillation + RLAIF DPO for</a:t>
            </a:r>
            <a:br/>
            <a:r>
              <a:rPr sz="3200" b="1">
                <a:solidFill>
                  <a:srgbClr val="1F1F1F"/>
                </a:solidFill>
                <a:latin typeface="Times New Roman"/>
              </a:rPr>
              <a:t>Sparse Persona-Conditioned Video Commentary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The Architecture of SimLens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32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808080"/>
                </a:solidFill>
              </a:rPr>
              <a:t>[ Insert architecture diagram here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latin typeface="Times New Roman"/>
              </a:rPr>
              <a:t/>
            </a:r>
          </a:p>
          <a:p>
            <a:r>
              <a:rPr sz="1100">
                <a:latin typeface="Times New Roman"/>
              </a:rPr>
              <a:t>Stage A: Whisper + LLaVA-NeXT (UMaT-style temporal alignment) → global Timeline Script</a:t>
            </a:r>
          </a:p>
          <a:p>
            <a:r>
              <a:rPr sz="1100">
                <a:latin typeface="Times New Roman"/>
              </a:rPr>
              <a:t>Stage B: Llama-3B + 8 persona-LoRA — one-shot input → sparse JSON [{ts, comment}, …]; trained via Distillation (Claude teacher) + RLAIF (Qwen judge, DPO)</a:t>
            </a:r>
          </a:p>
          <a:p>
            <a:r>
              <a:rPr sz="1100">
                <a:latin typeface="Times New Roman"/>
              </a:rPr>
              <a:t>Stage C: same Llama-3B base → sentiment + report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12121"/>
                </a:solidFill>
                <a:latin typeface="Arial"/>
              </a:rPr>
              <a:t>SimLens Fine-Tuning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Arial"/>
              </a:rPr>
              <a:t>Same 8 per-persona LoRA adapters (8 personas auto-sampled from PersonaChat 8K via cosine + MMR; see §2.3) — Phase 1 SFT then Phase 2 DPO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2834640"/>
            <a:ext cx="3931920" cy="1737360"/>
          </a:xfrm>
          <a:prstGeom prst="roundRect">
            <a:avLst/>
          </a:prstGeom>
          <a:solidFill>
            <a:srgbClr val="FFF9C4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88036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704200"/>
                </a:solidFill>
                <a:latin typeface="Arial"/>
              </a:rPr>
              <a:t>🎯 The 8 LoRA Adapters (shared between Phase 1 &amp; Phase 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P1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P2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P3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2461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P4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P5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P6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P7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3931920"/>
            <a:ext cx="731520" cy="594360"/>
          </a:xfrm>
          <a:prstGeom prst="roundRect">
            <a:avLst/>
          </a:prstGeom>
          <a:solidFill>
            <a:srgbClr val="FFECB3"/>
          </a:solidFill>
          <a:ln w="15875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P8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(sampled)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754880"/>
            <a:ext cx="3931920" cy="640080"/>
          </a:xfrm>
          <a:prstGeom prst="roundRect">
            <a:avLst/>
          </a:prstGeom>
          <a:solidFill>
            <a:srgbClr val="F3E5F5"/>
          </a:solidFill>
          <a:ln w="15875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 b="1">
                <a:solidFill>
                  <a:srgbClr val="212121"/>
                </a:solidFill>
                <a:latin typeface="Arial"/>
              </a:rPr>
              <a:t>🦙 Llama-3.2-3B-Instruct  (4-bit GPTQ, frozen base)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4572000"/>
            <a:ext cx="3931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777777"/>
                </a:solidFill>
                <a:latin typeface="Arial"/>
              </a:rPr>
              <a:t>↑ attached to 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051560"/>
            <a:ext cx="3566160" cy="5486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65C00"/>
                </a:solidFill>
                <a:latin typeface="Arial"/>
              </a:rPr>
              <a:t>Phase 1 — SFT Distillation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</a:rPr>
              <a:t>Goal: 學會 Claude 的 sparse JSON commentary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965960"/>
            <a:ext cx="3108960" cy="68580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📂 Training Input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100 Timeline Scripts × 8 personas YAML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834640"/>
            <a:ext cx="3108960" cy="777240"/>
          </a:xfrm>
          <a:prstGeom prst="roundRect">
            <a:avLst/>
          </a:prstGeom>
          <a:solidFill>
            <a:srgbClr val="FFE0B2"/>
          </a:solidFill>
          <a:ln w="15875"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🌟 Claude-3.5 Sonnet (Teacher)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→ 800 sparse JSON lists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($12 USD, one-shot per pair)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57400" y="265176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2920" y="3794760"/>
            <a:ext cx="3108960" cy="128016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l"/>
            <a:r>
              <a:rPr sz="900" b="1">
                <a:solidFill>
                  <a:srgbClr val="212121"/>
                </a:solidFill>
                <a:latin typeface="Arial"/>
              </a:rPr>
              <a:t>📚 SFT Training Loop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━━━━━━━━━━━━━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for persona in [P1...P8]: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訓練該 persona 的 LoRA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100 samples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3 epochs · rank=8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  • lr = 2e-4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57400" y="36118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52578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✅ Outcome: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8 LoRA 已具備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Sparse JSON 輸出格式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時序預測能力</a:t>
            </a:r>
          </a:p>
          <a:p>
            <a:pPr algn="l"/>
            <a:r>
              <a:rPr sz="1000" b="1" i="0">
                <a:solidFill>
                  <a:srgbClr val="E65C00"/>
                </a:solidFill>
                <a:latin typeface="Arial"/>
              </a:rPr>
              <a:t>• Persona 風格初步區分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94760" y="3703320"/>
            <a:ext cx="320040" cy="731520"/>
          </a:xfrm>
          <a:prstGeom prst="line">
            <a:avLst/>
          </a:prstGeom>
          <a:ln w="31750">
            <a:solidFill>
              <a:srgbClr val="E65C0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49040" y="4160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1">
                <a:solidFill>
                  <a:srgbClr val="E65C00"/>
                </a:solidFill>
                <a:latin typeface="Arial"/>
              </a:rPr>
              <a:t>trains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1051560"/>
            <a:ext cx="3566160" cy="54864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1100">
                <a:solidFill>
                  <a:srgbClr val="212121"/>
                </a:solidFill>
                <a:latin typeface="Arial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1188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565C0"/>
                </a:solidFill>
                <a:latin typeface="Arial"/>
              </a:rPr>
              <a:t>Phase 2 — DPO RLAIF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1554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Arial"/>
              </a:rPr>
              <a:t>Goal: 在 persona 維度上超越 Teacher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965960"/>
            <a:ext cx="3108960" cy="77724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🎲 Generate N=4 candidates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 per (video, persona)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 with current LoRA, t=0.9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49640" y="2926079"/>
            <a:ext cx="3108960" cy="1371600"/>
          </a:xfrm>
          <a:prstGeom prst="roundRect">
            <a:avLst/>
          </a:prstGeom>
          <a:solidFill>
            <a:srgbClr val="C5E1A5"/>
          </a:solidFill>
          <a:ln w="15875">
            <a:solidFill>
              <a:srgbClr val="558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l"/>
            <a:r>
              <a:rPr sz="900" b="1">
                <a:solidFill>
                  <a:srgbClr val="212121"/>
                </a:solidFill>
                <a:latin typeface="Arial"/>
              </a:rPr>
              <a:t>🤖 Qwen3-32B-Q4 (Judge)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━━━━━━━━━━━━━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4-aspect list-level reward: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R_timing (30%)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R_frequency_match (25%)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R_content_quality (25%)</a:t>
            </a:r>
          </a:p>
          <a:p>
            <a:pPr algn="l"/>
            <a:r>
              <a:rPr sz="900">
                <a:solidFill>
                  <a:srgbClr val="212121"/>
                </a:solidFill>
                <a:latin typeface="Arial"/>
              </a:rPr>
              <a:t>• R_coverage_diversity (20%)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104120" y="2743200"/>
            <a:ext cx="0" cy="182879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49640" y="4480560"/>
            <a:ext cx="3108960" cy="731520"/>
          </a:xfrm>
          <a:prstGeom prst="roundRect">
            <a:avLst/>
          </a:prstGeom>
          <a:solidFill>
            <a:srgbClr val="FAFAFA"/>
          </a:solidFill>
          <a:ln w="15875"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📊 Preference Pair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best R = chosen ∣ worst R = rejected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04120" y="42976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49640" y="5394960"/>
            <a:ext cx="3108960" cy="777240"/>
          </a:xfrm>
          <a:prstGeom prst="roundRect">
            <a:avLst/>
          </a:prstGeom>
          <a:solidFill>
            <a:srgbClr val="FCE4EC"/>
          </a:solidFill>
          <a:ln w="15875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000" rIns="54000" tIns="36000" bIns="36000" wrap="square"/>
          <a:lstStyle/>
          <a:p>
            <a:pPr algn="ctr"/>
            <a:r>
              <a:rPr sz="900" b="1">
                <a:solidFill>
                  <a:srgbClr val="212121"/>
                </a:solidFill>
                <a:latin typeface="Arial"/>
              </a:rPr>
              <a:t>🎯 DPO Update on same LoRA</a:t>
            </a:r>
          </a:p>
          <a:p>
            <a:pPr algn="ctr"/>
            <a:r>
              <a:rPr sz="900">
                <a:solidFill>
                  <a:srgbClr val="212121"/>
                </a:solidFill>
                <a:latin typeface="Arial"/>
              </a:rPr>
              <a:t>β=0.1 · lr=5e-7 · iterate ×2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104120" y="521208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49640" y="62636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565C0"/>
                </a:solidFill>
                <a:latin typeface="Arial"/>
              </a:rPr>
              <a:t>✅ Outcome: 對齊後的 8 LoRA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8046720" y="2350008"/>
            <a:ext cx="320040" cy="1353312"/>
          </a:xfrm>
          <a:prstGeom prst="line">
            <a:avLst/>
          </a:prstGeom>
          <a:ln w="31750">
            <a:solidFill>
              <a:srgbClr val="1565C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092440" y="333756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1">
                <a:solidFill>
                  <a:srgbClr val="1565C0"/>
                </a:solidFill>
                <a:latin typeface="Arial"/>
              </a:rPr>
              <a:t>loaded</a:t>
            </a:r>
          </a:p>
          <a:p>
            <a:pPr algn="ctr"/>
            <a:r>
              <a:rPr sz="900" b="1" i="1">
                <a:solidFill>
                  <a:srgbClr val="1565C0"/>
                </a:solidFill>
                <a:latin typeface="Arial"/>
              </a:rPr>
              <a:t>for DPO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555555"/>
                </a:solidFill>
                <a:latin typeface="Arial"/>
              </a:rPr>
              <a:t>Same LoRA structure, different training algorithm + different signal source: Phase 1 = SFT on Claude labels (學內容)  ▸  Phase 2 = DPO on Qwen preferences (修偏誤)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(1/2) — Phase 1: Knowledge Distillation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Goal: transfer Claude-3.5 Sonnet's post-hoc sparse JSON commentary ability to Llama-3.2-3B.</a:t>
            </a:r>
          </a:p>
          <a:p>
            <a:r>
              <a:rPr sz="1500">
                <a:latin typeface="Times New Roman"/>
              </a:rPr>
              <a:t>Why distillation? No real (video, persona, sparse-list) data exists; teacher LLM is the only feasible oracle.</a:t>
            </a:r>
          </a:p>
          <a:p>
            <a:r>
              <a:rPr sz="1500">
                <a:latin typeface="Times New Roman"/>
              </a:rPr>
              <a:t>Pipeline:</a:t>
            </a:r>
          </a:p>
          <a:p>
            <a:pPr lvl="1"/>
            <a:r>
              <a:rPr sz="1500">
                <a:latin typeface="Times New Roman"/>
              </a:rPr>
              <a:t>Step 0 (one-time): Sample 8 personas from PersonaChat 8K via OpenAI text-embedding-3-small + MMR (centroid query, λ=0.4, candidate pool 80) — SimTube IUI 2025 paradigm, no hand-crafted personas.</a:t>
            </a:r>
          </a:p>
          <a:p>
            <a:pPr lvl="1"/>
            <a:r>
              <a:rPr sz="1500">
                <a:latin typeface="Times New Roman"/>
              </a:rPr>
              <a:t>Step 1: Collect 100 × 1–3min YouTube videos → Stage A → 100 global Timeline Scripts.</a:t>
            </a:r>
          </a:p>
          <a:p>
            <a:pPr lvl="1"/>
            <a:r>
              <a:rPr sz="1500">
                <a:latin typeface="Times New Roman"/>
              </a:rPr>
              <a:t>Step 2: For each (video, persona) pair: prompt Claude with full Timeline Script + persona description.</a:t>
            </a:r>
          </a:p>
          <a:p>
            <a:pPr lvl="1"/>
            <a:r>
              <a:rPr sz="1500">
                <a:latin typeface="Times New Roman"/>
              </a:rPr>
              <a:t>Step 3: Output: sparse JSON [{timestamp, comment}, …] — empty array [] when persona wouldn't react.</a:t>
            </a:r>
          </a:p>
          <a:p>
            <a:pPr lvl="1"/>
            <a:r>
              <a:rPr sz="1500">
                <a:latin typeface="Times New Roman"/>
              </a:rPr>
              <a:t>Step 4: Total: 100 × 8 = 800 sparse lists, ~3,200 comments (cost ≈ $12, single API call per pair).</a:t>
            </a:r>
          </a:p>
          <a:p>
            <a:r>
              <a:rPr sz="1500">
                <a:latin typeface="Times New Roman"/>
              </a:rPr>
              <a:t>SFT training: 8 independent LoRA adapters (rank=8) on a shared 4-bit GPTQ Llama-3.2-3B base [3].</a:t>
            </a:r>
          </a:p>
          <a:p>
            <a:pPr lvl="1"/>
            <a:r>
              <a:rPr sz="1500">
                <a:latin typeface="Times New Roman"/>
              </a:rPr>
              <a:t>Why per-persona LoRA: hard separation prevents persona leakage; each adapter specializes on one viewer.</a:t>
            </a:r>
          </a:p>
          <a:p>
            <a:pPr lvl="1"/>
            <a:r>
              <a:rPr sz="1500">
                <a:latin typeface="Times New Roman"/>
              </a:rPr>
              <a:t>Each adapter ~25 MB; 8 adapters total ~200 MB. Swapped at inference time on the same base.</a:t>
            </a:r>
          </a:p>
          <a:p>
            <a:pPr lvl="1"/>
            <a:r>
              <a:rPr sz="1500">
                <a:latin typeface="Times New Roman"/>
              </a:rPr>
              <a:t>Constrained JSON decoding via Outlines (XGrammar alternative) ensures schema compliance during generation [12][13].</a:t>
            </a:r>
          </a:p>
          <a:p>
            <a:r>
              <a:rPr sz="1500">
                <a:latin typeface="Times New Roman"/>
              </a:rPr>
              <a:t>[3] Yu et al. Neeko: Dynamic LoRA. EMNLP 2024.   [12] Zhou et al. IFEval, arXiv:2311.07911.   [13] Geng et al. JSONSchemaBench, arXiv:2501.10868.   [20] Zhang et al. PersonaChat. ACL 2018.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  <a:latin typeface="Times New Roman"/>
              </a:rPr>
              <a:t>[3] Yu et al. Neeko: Dynamic LoRA for Multi-Character Role-Playing. EMNLP 2024.    [4] Action-Guided Engagement, arXiv:2502.12073,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(2/2) — Phase 2: RLAIF + DPO with 4-Aspect List-Level Reward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Goal: surpass Claude (teacher) on persona-specific dimensions via AI-feedback alignment.</a:t>
            </a:r>
          </a:p>
          <a:p>
            <a:r>
              <a:rPr sz="1400">
                <a:latin typeface="Times New Roman"/>
              </a:rPr>
              <a:t>Pipeline (per LoRA, iterated 2 rounds):</a:t>
            </a:r>
          </a:p>
          <a:p>
            <a:pPr lvl="1"/>
            <a:r>
              <a:rPr sz="1400">
                <a:latin typeface="Times New Roman"/>
              </a:rPr>
              <a:t>Generate N=4 candidate sparse lists per (video, persona) prompt.</a:t>
            </a:r>
          </a:p>
          <a:p>
            <a:pPr lvl="1"/>
            <a:r>
              <a:rPr sz="1400">
                <a:latin typeface="Times New Roman"/>
              </a:rPr>
              <a:t>Score each list with 4 list-level rewards; build chosen/rejected pairs; run DPO.</a:t>
            </a:r>
          </a:p>
          <a:p>
            <a:r>
              <a:rPr sz="1400">
                <a:latin typeface="Times New Roman"/>
              </a:rPr>
              <a:t>4-aspect list-level reward (with weights):</a:t>
            </a:r>
          </a:p>
          <a:p>
            <a:pPr lvl="1"/>
            <a:r>
              <a:rPr sz="1400">
                <a:latin typeface="Times New Roman"/>
              </a:rPr>
              <a:t>R_timing (30%) — Qwen judge: are predicted timestamps at noteworthy moments? (SoccerNet event saliency inspired)</a:t>
            </a:r>
          </a:p>
          <a:p>
            <a:pPr lvl="1"/>
            <a:r>
              <a:rPr sz="1400">
                <a:latin typeface="Times New Roman"/>
              </a:rPr>
              <a:t>R_frequency_match (25%) — list length matches persona's expected_comment_count range.</a:t>
            </a:r>
          </a:p>
          <a:p>
            <a:pPr lvl="1"/>
            <a:r>
              <a:rPr sz="1400">
                <a:latin typeface="Times New Roman"/>
              </a:rPr>
              <a:t>R_content_quality (25%) — Qwen judge: per-comment Persona Consistency + Linguistic Habits + Local Relevance.</a:t>
            </a:r>
          </a:p>
          <a:p>
            <a:pPr lvl="1"/>
            <a:r>
              <a:rPr sz="1400">
                <a:latin typeface="Times New Roman"/>
              </a:rPr>
              <a:t>R_coverage_diversity (20%) — timestamps spread evenly across video, not clustered in one segment.</a:t>
            </a:r>
          </a:p>
          <a:p>
            <a:r>
              <a:rPr sz="1400">
                <a:latin typeface="Times New Roman"/>
              </a:rPr>
              <a:t>Robustness: single Qwen3-32B-Q4 frozen judge (no multi-judge ensemble in v4.1).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Experiments — Data &amp;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Data: 100 YouTube short videos (1–3 min, avg ~2 min), mixed genres; English; ≥10K views; excludes Shorts (≤60s).</a:t>
            </a:r>
          </a:p>
          <a:p>
            <a:r>
              <a:rPr sz="1500">
                <a:latin typeface="Times New Roman"/>
              </a:rPr>
              <a:t>100 × 8 personas = 800 sparse JSON lists; 85/10/5 train/val/test split.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Automatic evaluation (4 groups, v4.1 final spec):</a:t>
            </a:r>
          </a:p>
          <a:p>
            <a:r>
              <a:rPr sz="1500">
                <a:latin typeface="Times New Roman"/>
              </a:rPr>
              <a:t>Group 0 — Format Compliance: Schema Compliance Rate (SCR) + Timestamp Validity Rate (TVR), deterministic.</a:t>
            </a:r>
          </a:p>
          <a:p>
            <a:r>
              <a:rPr sz="1500">
                <a:latin typeface="Times New Roman"/>
              </a:rPr>
              <a:t>Group 2 — Content Quality (Tier 2): Persona Consistency, Linguistic Habits, Local Relevance (BERTScore), Coherence, Engagingness (UniEval).</a:t>
            </a:r>
          </a:p>
          <a:p>
            <a:r>
              <a:rPr sz="1500">
                <a:latin typeface="Times New Roman"/>
              </a:rPr>
              <a:t>Group 3 — List-level (reward-independent): Teacher Alignment Score (TAS, F1@5s vs Claude) + Persona Content Distinctiveness (embedding cosine).</a:t>
            </a:r>
          </a:p>
          <a:p>
            <a:r>
              <a:rPr sz="1500">
                <a:latin typeface="Times New Roman"/>
              </a:rPr>
              <a:t>Group 4 — Human eval: 25 annotators × Upwork × 8 videos × 30 comments/video × 4 dimensions (Relevance / Believability / Helpfulness / Timing Naturalness); 7-pt Likert; Wilcoxon Signed-Rank + Bonferroni; +5 forced-choice A/B.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Expected Results &amp; Ablation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C00000"/>
                </a:solidFill>
                <a:latin typeface="Times New Roman"/>
              </a:rPr>
              <a:t>Expected main result (Macro-Avg over 8 personas) — projections from research plan.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Method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Persona Cons.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Linguistic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Local Relev.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Coherence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Llama-3B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0.42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0.38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0.45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0.50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Claude-3.5 Sonnet (teacher)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SimLens — Phase 1 only (SFT)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0.71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0.60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SimLens — full (SFT + DPO) ★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0.81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0.66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0.78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Planned ablations:</a:t>
            </a:r>
          </a:p>
          <a:p>
            <a:pPr lvl="1"/>
            <a:r>
              <a:rPr lang="en-US"/>
              <a:t>A1 — SimLens full (baseline; reference for all comparisons)</a:t>
            </a:r>
          </a:p>
          <a:p>
            <a:pPr lvl="1"/>
            <a:r>
              <a:rPr sz="1400">
                <a:latin typeface="Times New Roman"/>
              </a:rPr>
              <a:t>A2 — w/o Phase 2 RLAIF (SFT only)</a:t>
            </a:r>
          </a:p>
          <a:p>
            <a:pPr lvl="1"/>
            <a:r>
              <a:rPr sz="1400">
                <a:latin typeface="Times New Roman"/>
              </a:rPr>
              <a:t>A3 — w/o Phase 1 Distillation (DPO from zero-shot)</a:t>
            </a:r>
          </a:p>
          <a:p>
            <a:pPr lvl="1"/>
            <a:r>
              <a:rPr sz="1400">
                <a:latin typeface="Times New Roman"/>
              </a:rPr>
              <a:t>A4 — single LoRA + persona prompt (no per-persona)</a:t>
            </a:r>
          </a:p>
          <a:p>
            <a:pPr lvl="1"/>
            <a:r>
              <a:rPr sz="1400">
                <a:latin typeface="Times New Roman"/>
              </a:rPr>
              <a:t>A5 — single-aspect reward (R_content only)</a:t>
            </a:r>
          </a:p>
          <a:p>
            <a:pPr lvl="1"/>
            <a:r>
              <a:rPr sz="1400">
                <a:latin typeface="Times New Roman"/>
              </a:rPr>
              <a:t>A6 — w/o R_timing</a:t>
            </a:r>
          </a:p>
          <a:p>
            <a:pPr lvl="1"/>
            <a:r>
              <a:rPr sz="1400">
                <a:latin typeface="Times New Roman"/>
              </a:rPr>
              <a:t>A7 — w/o R_frequency_match</a:t>
            </a:r>
          </a:p>
          <a:p>
            <a:pPr lvl="1"/>
            <a:r>
              <a:rPr sz="1400">
                <a:latin typeface="Times New Roman"/>
              </a:rPr>
              <a:t>A8 — w/o R_coverage_diversity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Note: full table in §5.4 also includes Engagingness (UniEval); omitted from slide for space.</a:t>
            </a:r>
          </a:p>
          <a:p>
            <a:r>
              <a:rPr sz="1400">
                <a:latin typeface="Times New Roman"/>
              </a:rPr>
              <a:t>Why we expect SimLens to surpass Claude on persona-specific dimensions:</a:t>
            </a:r>
          </a:p>
          <a:p>
            <a:pPr lvl="1"/>
            <a:r>
              <a:rPr sz="1400">
                <a:latin typeface="Times New Roman"/>
              </a:rPr>
              <a:t>Per-persona LoRA adapters specialize beyond what a generalist teacher can express.</a:t>
            </a:r>
          </a:p>
          <a:p>
            <a:pPr lvl="1"/>
            <a:r>
              <a:rPr sz="1400">
                <a:latin typeface="Times New Roman"/>
              </a:rPr>
              <a:t>RLAIF DPO with domain-specific rewards directly optimizes Persona Consistency and Linguistic Habits.</a:t>
            </a:r>
          </a:p>
          <a:p>
            <a:pPr lvl="1"/>
            <a:r>
              <a:rPr sz="1400">
                <a:latin typeface="Times New Roman"/>
              </a:rPr>
              <a:t>Empty-array abstention naturally encodes "no reaction" without explicit None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What we propose:</a:t>
            </a:r>
          </a:p>
          <a:p>
            <a:pPr lvl="1"/>
            <a:r>
              <a:rPr sz="1600">
                <a:latin typeface="Times New Roman"/>
              </a:rPr>
              <a:t>SimLens — a 3B persona-conditioned sparse video commentary generator,</a:t>
            </a:r>
          </a:p>
          <a:p>
            <a:pPr lvl="1"/>
            <a:r>
              <a:rPr sz="1600">
                <a:latin typeface="Times New Roman"/>
              </a:rPr>
              <a:t>trained via one-shot Distillation + 4-aspect list-level RLAIF DPO.</a:t>
            </a:r>
          </a:p>
          <a:p>
            <a:r>
              <a:rPr sz="1600">
                <a:latin typeface="Times New Roman"/>
              </a:rPr>
              <a:t>What we expect to achieve:</a:t>
            </a:r>
          </a:p>
          <a:p>
            <a:pPr lvl="1"/>
            <a:r>
              <a:rPr sz="1600">
                <a:latin typeface="Times New Roman"/>
              </a:rPr>
              <a:t>C1 (System): first end-to-end pipeline producing 8 per-persona sparse JSON lists per 1–3min YouTube video, runnable on 24GB GPU.</a:t>
            </a:r>
          </a:p>
          <a:p>
            <a:pPr lvl="1"/>
            <a:r>
              <a:rPr sz="1600">
                <a:latin typeface="Times New Roman"/>
              </a:rPr>
              <a:t>C2 (Method): one-shot timeline-to-sparse-JSON distillation + RLAIF DPO with novel R_timing / R_frequency_match / R_coverage_diversity rewards.</a:t>
            </a:r>
          </a:p>
          <a:p>
            <a:pPr lvl="1"/>
            <a:r>
              <a:rPr sz="1600">
                <a:latin typeface="Times New Roman"/>
              </a:rPr>
              <a:t>C3 (Empirical): 3B student matches/exceeds 600B-class teacher on persona-specific dimensions; Format Compliance Rate rises from 32% (zero-shot) to 96%+ with distillation.</a:t>
            </a:r>
          </a:p>
          <a:p>
            <a:pPr lvl="1"/>
            <a:r>
              <a:rPr sz="1600">
                <a:latin typeface="Times New Roman"/>
              </a:rPr>
              <a:t>C4 (Reproducibility): persona source from PersonaChat 8K + MMR sampling — eliminates "why these 8 personas?" reviewer concern, fully reproducible given seed.</a:t>
            </a:r>
          </a:p>
          <a:p>
            <a:r>
              <a:rPr sz="1600">
                <a:latin typeface="Times New Roman"/>
              </a:rPr>
              <a:t>Benefits:</a:t>
            </a:r>
          </a:p>
          <a:p>
            <a:pPr lvl="1"/>
            <a:r>
              <a:rPr sz="1600">
                <a:latin typeface="Times New Roman"/>
              </a:rPr>
              <a:t>Enables creators to optimize content BEFORE publishing — minutes instead of weeks of feedback.</a:t>
            </a:r>
          </a:p>
          <a:p>
            <a:pPr lvl="1"/>
            <a:r>
              <a:rPr sz="1600">
                <a:latin typeface="Times New Roman"/>
              </a:rPr>
              <a:t>On-device, $0 inference cost — democratizes pre-publish audience analysis for small creators.</a:t>
            </a:r>
          </a:p>
          <a:p>
            <a:pPr lvl="1"/>
            <a:r>
              <a:rPr sz="1600">
                <a:latin typeface="Times New Roman"/>
              </a:rPr>
              <a:t>Cost crossover with SimTube at ~200 videos; long-term users pay zero marginal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latin typeface="Times New Roman"/>
              </a:rPr>
              <a:t>[1] Hung et al. SimTube: Generating Simulated Video Comments through Multimodal AI. arXiv:2411.09577, IUI 2025.</a:t>
            </a:r>
          </a:p>
          <a:p>
            <a:r>
              <a:rPr sz="1300">
                <a:latin typeface="Times New Roman"/>
              </a:rPr>
              <a:t>[2] Bi &amp; Xu. UMaT: Unified Multi-Modal Framework with Semantic and Temporal Alignment. arXiv:2503.09081, 2025.</a:t>
            </a:r>
          </a:p>
          <a:p>
            <a:r>
              <a:rPr sz="1300">
                <a:latin typeface="Times New Roman"/>
              </a:rPr>
              <a:t>[3] Yu et al. Neeko: Leveraging Dynamic LoRA for Efficient Multi-Character Role-Playing Agent. EMNLP 2024 Main.</a:t>
            </a:r>
          </a:p>
          <a:p>
            <a:r>
              <a:rPr sz="1300">
                <a:latin typeface="Times New Roman"/>
              </a:rPr>
              <a:t>[4] Samuel et al. PersonaGym: Evaluating Persona Agents and LLMs. EMNLP 2025 Findings.</a:t>
            </a:r>
          </a:p>
          <a:p>
            <a:r>
              <a:rPr sz="1300">
                <a:latin typeface="Times New Roman"/>
              </a:rPr>
              <a:t>[5] Lee et al. RLAIF: Scaling RLHF with AI Feedback. arXiv:2309.00267 (Google DeepMind, 2023).</a:t>
            </a:r>
          </a:p>
          <a:p>
            <a:r>
              <a:rPr sz="1300">
                <a:latin typeface="Times New Roman"/>
              </a:rPr>
              <a:t>[6] Yuan et al. Self-Rewarding Language Models. arXiv:2401.10020 (Meta + NYU, 2024). [Iterative DPO concept only]</a:t>
            </a:r>
          </a:p>
          <a:p>
            <a:r>
              <a:rPr sz="1300">
                <a:latin typeface="Times New Roman"/>
              </a:rPr>
              <a:t>[7] Rafailov et al. Direct Preference Optimization (DPO). NeurIPS 2023.</a:t>
            </a:r>
          </a:p>
          <a:p>
            <a:r>
              <a:rPr sz="1300">
                <a:latin typeface="Times New Roman"/>
              </a:rPr>
              <a:t>[8] Thakkar et al. PEFT Preference Alignment Trade-Offs. ACL 2024 Main, arXiv:2406.04879.</a:t>
            </a:r>
          </a:p>
          <a:p>
            <a:r>
              <a:rPr sz="1300">
                <a:latin typeface="Times New Roman"/>
              </a:rPr>
              <a:t>[9] Williams. MORLAIF: Multi-Objective RLAIF. arXiv:2406.07496, 2024.</a:t>
            </a:r>
          </a:p>
          <a:p>
            <a:r>
              <a:rPr sz="1300">
                <a:latin typeface="Times New Roman"/>
              </a:rPr>
              <a:t>[10] Hu et al. LoRA: Low-Rank Adaptation of Large Language Models. ICLR 2022.</a:t>
            </a:r>
          </a:p>
          <a:p>
            <a:r>
              <a:rPr sz="1300">
                <a:latin typeface="Times New Roman"/>
              </a:rPr>
              <a:t>[11] Ventura et al. Chapter-Llama: Efficient Chaptering in Hour-Long Videos with LLMs. CVPR 2025, arXiv:2504.00072.</a:t>
            </a:r>
          </a:p>
          <a:p>
            <a:r>
              <a:rPr sz="1300">
                <a:latin typeface="Times New Roman"/>
              </a:rPr>
              <a:t>[12] Zhou et al. Instruction-Following Evaluation (IFEval). arXiv:2311.07911 (Google, 2023).</a:t>
            </a:r>
          </a:p>
          <a:p>
            <a:r>
              <a:rPr sz="1300">
                <a:latin typeface="Times New Roman"/>
              </a:rPr>
              <a:t>[13] Geng et al. JSONSchemaBench: Benchmark of Structured Outputs for LMs. arXiv:2501.10868 (EPFL+MSR, 2025).</a:t>
            </a:r>
          </a:p>
          <a:p>
            <a:r>
              <a:rPr sz="1300">
                <a:latin typeface="Times New Roman"/>
              </a:rPr>
              <a:t>[14] Anthropic. Claude 3.5 Sonnet Model Card, 2024.   [15] OpenAI. GPT-4o System Card, 2024.</a:t>
            </a:r>
          </a:p>
          <a:p>
            <a:r>
              <a:rPr sz="1300">
                <a:latin typeface="Times New Roman"/>
              </a:rPr>
              <a:t>[16] Liu et al. LLaVA-NeXT: Improved Reasoning, OCR, and World Knowledge, 2024.</a:t>
            </a:r>
          </a:p>
          <a:p>
            <a:r>
              <a:rPr sz="1300">
                <a:latin typeface="Times New Roman"/>
              </a:rPr>
              <a:t>[17] Radford et al. Whisper: Robust Speech Recognition via Large-Scale Weak Supervision, 2022.</a:t>
            </a:r>
          </a:p>
          <a:p>
            <a:r>
              <a:rPr sz="1300">
                <a:latin typeface="Times New Roman"/>
              </a:rPr>
              <a:t>[18] Meta AI. Llama 3.2 Release Notes, 2024.</a:t>
            </a:r>
          </a:p>
          <a:p>
            <a:r>
              <a:rPr sz="1300">
                <a:latin typeface="Times New Roman"/>
              </a:rPr>
              <a:t>[19] Zhang et al. Personalizing Dialogue Agents (PersonaChat). ACL 2018, arXiv:1801.07243.</a:t>
            </a:r>
          </a:p>
          <a:p>
            <a:r>
              <a:rPr sz="1300">
                <a:latin typeface="Times New Roman"/>
              </a:rPr>
              <a:t>[20] Carbonell &amp; Goldstein. The Use of MMR for Reranking. SIGIR 1998.</a:t>
            </a:r>
          </a:p>
          <a:p>
            <a:r>
              <a:rPr sz="1300">
                <a:latin typeface="Times New Roman"/>
              </a:rPr>
              <a:t>[21] Zeng et al. Socratic Models: Composing Zero-Shot Multimodal Reasoning with Language. ICLR 2023, arXiv:2204.00598.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2026/5/1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2607</Words>
  <Application>Microsoft Office PowerPoint</Application>
  <PresentationFormat>寬螢幕</PresentationFormat>
  <Paragraphs>270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ㄨㄨㄨㄨㄨ ㄍ</cp:lastModifiedBy>
  <cp:revision>2</cp:revision>
  <dcterms:created xsi:type="dcterms:W3CDTF">2013-01-27T09:14:16Z</dcterms:created>
  <dcterms:modified xsi:type="dcterms:W3CDTF">2026-04-28T01:12:04Z</dcterms:modified>
  <cp:category/>
</cp:coreProperties>
</file>