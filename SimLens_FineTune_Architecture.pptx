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12121"/>
                </a:solidFill>
                <a:latin typeface="Arial"/>
              </a:rPr>
              <a:t>SimLens Fine-Tuning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Arial"/>
              </a:rPr>
              <a:t>Same 8 per-persona LoRA adapters trained twice — Phase 1 SFT then Phase 2 DPO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2834640"/>
            <a:ext cx="3931920" cy="1737360"/>
          </a:xfrm>
          <a:prstGeom prst="roundRect">
            <a:avLst/>
          </a:prstGeom>
          <a:solidFill>
            <a:srgbClr val="FFF9C4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100">
                <a:solidFill>
                  <a:srgbClr val="212121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288036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704200"/>
                </a:solidFill>
                <a:latin typeface="Arial"/>
              </a:rPr>
              <a:t>🎯 The 8 LoRA Adapters (shared between Phase 1 &amp; Phase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2461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P1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大學女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32461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P2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科技男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2461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P3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職涯女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2461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P4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父母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9319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P5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權威男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39319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P6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遊戲男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9319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P7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退休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39319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P8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青少年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4754880"/>
            <a:ext cx="3931920" cy="640080"/>
          </a:xfrm>
          <a:prstGeom prst="roundRect">
            <a:avLst/>
          </a:prstGeom>
          <a:solidFill>
            <a:srgbClr val="F3E5F5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100" b="1">
                <a:solidFill>
                  <a:srgbClr val="212121"/>
                </a:solidFill>
                <a:latin typeface="Arial"/>
              </a:rPr>
              <a:t>🦙 Llama-3.2-3B-Instruct  (4-bit GPTQ, frozen base)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572000"/>
            <a:ext cx="3931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777777"/>
                </a:solidFill>
                <a:latin typeface="Arial"/>
              </a:rPr>
              <a:t>↑ attached to 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1051560"/>
            <a:ext cx="3566160" cy="54864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100">
                <a:solidFill>
                  <a:srgbClr val="212121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188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65C00"/>
                </a:solidFill>
                <a:latin typeface="Arial"/>
              </a:rPr>
              <a:t>Phase 1 — SFT Distillation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554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Arial"/>
              </a:rPr>
              <a:t>Goal: 學會 Claude 的 sparse JSON commentary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1965960"/>
            <a:ext cx="3108960" cy="68580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📂 Training Input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100 Timeline Scripts × 8 personas YAML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834640"/>
            <a:ext cx="3108960" cy="777240"/>
          </a:xfrm>
          <a:prstGeom prst="roundRect">
            <a:avLst/>
          </a:prstGeom>
          <a:solidFill>
            <a:srgbClr val="FFE0B2"/>
          </a:solidFill>
          <a:ln w="15875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🌟 Claude-3.5 Sonnet (Teacher)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→ 800 sparse JSON lists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($12 USD, one-shot per pair)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57400" y="2651760"/>
            <a:ext cx="0" cy="182880"/>
          </a:xfrm>
          <a:prstGeom prst="line">
            <a:avLst/>
          </a:prstGeom>
          <a:ln w="15875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" y="3794760"/>
            <a:ext cx="3108960" cy="1280160"/>
          </a:xfrm>
          <a:prstGeom prst="roundRect">
            <a:avLst/>
          </a:prstGeom>
          <a:solidFill>
            <a:srgbClr val="FCE4EC"/>
          </a:solidFill>
          <a:ln w="15875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l"/>
            <a:r>
              <a:rPr sz="900" b="1">
                <a:solidFill>
                  <a:srgbClr val="212121"/>
                </a:solidFill>
                <a:latin typeface="Arial"/>
              </a:rPr>
              <a:t>📚 SFT Training Loop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━━━━━━━━━━━━━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for persona in [P1...P8]: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  訓練該 persona 的 LoRA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  • 100 samples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  • 3 epochs · rank=8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  • lr = 2e-4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57400" y="3611880"/>
            <a:ext cx="0" cy="182880"/>
          </a:xfrm>
          <a:prstGeom prst="line">
            <a:avLst/>
          </a:prstGeom>
          <a:ln w="15875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" y="52578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65C00"/>
                </a:solidFill>
                <a:latin typeface="Arial"/>
              </a:rPr>
              <a:t>✅ Outcome:</a:t>
            </a:r>
          </a:p>
          <a:p>
            <a:pPr algn="l"/>
            <a:r>
              <a:rPr sz="1000" b="1" i="0">
                <a:solidFill>
                  <a:srgbClr val="E65C00"/>
                </a:solidFill>
                <a:latin typeface="Arial"/>
              </a:rPr>
              <a:t>8 LoRA 已具備</a:t>
            </a:r>
          </a:p>
          <a:p>
            <a:pPr algn="l"/>
            <a:r>
              <a:rPr sz="1000" b="1" i="0">
                <a:solidFill>
                  <a:srgbClr val="E65C00"/>
                </a:solidFill>
                <a:latin typeface="Arial"/>
              </a:rPr>
              <a:t>• Sparse JSON 輸出格式</a:t>
            </a:r>
          </a:p>
          <a:p>
            <a:pPr algn="l"/>
            <a:r>
              <a:rPr sz="1000" b="1" i="0">
                <a:solidFill>
                  <a:srgbClr val="E65C00"/>
                </a:solidFill>
                <a:latin typeface="Arial"/>
              </a:rPr>
              <a:t>• 時序預測能力</a:t>
            </a:r>
          </a:p>
          <a:p>
            <a:pPr algn="l"/>
            <a:r>
              <a:rPr sz="1000" b="1" i="0">
                <a:solidFill>
                  <a:srgbClr val="E65C00"/>
                </a:solidFill>
                <a:latin typeface="Arial"/>
              </a:rPr>
              <a:t>• Persona 風格初步區分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794760" y="3703320"/>
            <a:ext cx="320040" cy="731520"/>
          </a:xfrm>
          <a:prstGeom prst="line">
            <a:avLst/>
          </a:prstGeom>
          <a:ln w="31750">
            <a:solidFill>
              <a:srgbClr val="E65C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749040" y="4160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1">
                <a:solidFill>
                  <a:srgbClr val="E65C00"/>
                </a:solidFill>
                <a:latin typeface="Arial"/>
              </a:rPr>
              <a:t>trains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1051560"/>
            <a:ext cx="3566160" cy="54864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100">
                <a:solidFill>
                  <a:srgbClr val="212121"/>
                </a:solidFill>
                <a:latin typeface="Arial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1188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565C0"/>
                </a:solidFill>
                <a:latin typeface="Arial"/>
              </a:rPr>
              <a:t>Phase 2 — DPO RLAIF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1554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Arial"/>
              </a:rPr>
              <a:t>Goal: 在 persona 維度上超越 Teacher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1965960"/>
            <a:ext cx="3108960" cy="77724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🎲 Generate N=4 candidates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 per (video, persona)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 with current LoRA, t=0.9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2926079"/>
            <a:ext cx="3108960" cy="1371600"/>
          </a:xfrm>
          <a:prstGeom prst="roundRect">
            <a:avLst/>
          </a:prstGeom>
          <a:solidFill>
            <a:srgbClr val="C5E1A5"/>
          </a:solidFill>
          <a:ln w="15875">
            <a:solidFill>
              <a:srgbClr val="558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l"/>
            <a:r>
              <a:rPr sz="900" b="1">
                <a:solidFill>
                  <a:srgbClr val="212121"/>
                </a:solidFill>
                <a:latin typeface="Arial"/>
              </a:rPr>
              <a:t>🤖 Qwen3-32B-Q4 (Judge)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━━━━━━━━━━━━━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4-aspect list-level reward: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• R_timing (30%)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• R_frequency_match (25%)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• R_content_quality (25%)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• R_coverage_diversity (20%)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104120" y="2743200"/>
            <a:ext cx="0" cy="182879"/>
          </a:xfrm>
          <a:prstGeom prst="line">
            <a:avLst/>
          </a:prstGeom>
          <a:ln w="15875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549640" y="4480560"/>
            <a:ext cx="3108960" cy="73152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📊 Preference Pair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best R = chosen ∣ worst R = rejected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104120" y="4297680"/>
            <a:ext cx="0" cy="182880"/>
          </a:xfrm>
          <a:prstGeom prst="line">
            <a:avLst/>
          </a:prstGeom>
          <a:ln w="15875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549640" y="5394960"/>
            <a:ext cx="3108960" cy="777240"/>
          </a:xfrm>
          <a:prstGeom prst="roundRect">
            <a:avLst/>
          </a:prstGeom>
          <a:solidFill>
            <a:srgbClr val="FCE4EC"/>
          </a:solidFill>
          <a:ln w="15875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🎯 DPO Update on same LoRA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β=0.1 · lr=5e-7 · iterate ×2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104120" y="5212080"/>
            <a:ext cx="0" cy="182880"/>
          </a:xfrm>
          <a:prstGeom prst="line">
            <a:avLst/>
          </a:prstGeom>
          <a:ln w="15875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549640" y="6263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Arial"/>
              </a:rPr>
              <a:t>✅ Outcome: 對齊後的 8 LoRA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8046720" y="2350008"/>
            <a:ext cx="320040" cy="1353312"/>
          </a:xfrm>
          <a:prstGeom prst="line">
            <a:avLst/>
          </a:prstGeom>
          <a:ln w="31750">
            <a:solidFill>
              <a:srgbClr val="1565C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092440" y="333756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1">
                <a:solidFill>
                  <a:srgbClr val="1565C0"/>
                </a:solidFill>
                <a:latin typeface="Arial"/>
              </a:rPr>
              <a:t>loaded</a:t>
            </a:r>
          </a:p>
          <a:p>
            <a:pPr algn="ctr"/>
            <a:r>
              <a:rPr sz="900" b="1" i="1">
                <a:solidFill>
                  <a:srgbClr val="1565C0"/>
                </a:solidFill>
                <a:latin typeface="Arial"/>
              </a:rPr>
              <a:t>for DPO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Arial"/>
              </a:rPr>
              <a:t>Same LoRA structure, different training algorithm + different signal source: Phase 1 = SFT on Claude labels (學內容)  ▸  Phase 2 = DPO on Qwen preferences (修偏誤)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